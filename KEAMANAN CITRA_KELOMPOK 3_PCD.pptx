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Muli Heavy" charset="1" panose="00000A00000000000000"/>
      <p:regular r:id="rId25"/>
    </p:embeddedFont>
    <p:embeddedFont>
      <p:font typeface="Muli Bold" charset="1" panose="00000800000000000000"/>
      <p:regular r:id="rId26"/>
    </p:embeddedFont>
    <p:embeddedFont>
      <p:font typeface="Muli" charset="1" panose="000005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D527"/>
        </a:solidFill>
      </p:bgPr>
    </p:bg>
    <p:spTree>
      <p:nvGrpSpPr>
        <p:cNvPr id="1" name=""/>
        <p:cNvGrpSpPr/>
        <p:nvPr/>
      </p:nvGrpSpPr>
      <p:grpSpPr>
        <a:xfrm>
          <a:off x="0" y="0"/>
          <a:ext cx="0" cy="0"/>
          <a:chOff x="0" y="0"/>
          <a:chExt cx="0" cy="0"/>
        </a:xfrm>
      </p:grpSpPr>
      <p:sp>
        <p:nvSpPr>
          <p:cNvPr name="TextBox 2" id="2"/>
          <p:cNvSpPr txBox="true"/>
          <p:nvPr/>
        </p:nvSpPr>
        <p:spPr>
          <a:xfrm rot="0">
            <a:off x="1028700" y="2518546"/>
            <a:ext cx="13683384" cy="4829175"/>
          </a:xfrm>
          <a:prstGeom prst="rect">
            <a:avLst/>
          </a:prstGeom>
        </p:spPr>
        <p:txBody>
          <a:bodyPr anchor="t" rtlCol="false" tIns="0" lIns="0" bIns="0" rIns="0">
            <a:spAutoFit/>
          </a:bodyPr>
          <a:lstStyle/>
          <a:p>
            <a:pPr algn="l">
              <a:lnSpc>
                <a:spcPts val="12599"/>
              </a:lnSpc>
            </a:pPr>
            <a:r>
              <a:rPr lang="en-US" b="true" sz="11999" spc="239">
                <a:solidFill>
                  <a:srgbClr val="006BCB"/>
                </a:solidFill>
                <a:latin typeface="Muli Heavy"/>
                <a:ea typeface="Muli Heavy"/>
                <a:cs typeface="Muli Heavy"/>
                <a:sym typeface="Muli Heavy"/>
              </a:rPr>
              <a:t>STUDI KASUS KEAM</a:t>
            </a:r>
            <a:r>
              <a:rPr lang="en-US" b="true" sz="11999" spc="239">
                <a:solidFill>
                  <a:srgbClr val="006BCB"/>
                </a:solidFill>
                <a:latin typeface="Muli Heavy"/>
                <a:ea typeface="Muli Heavy"/>
                <a:cs typeface="Muli Heavy"/>
                <a:sym typeface="Muli Heavy"/>
              </a:rPr>
              <a:t>ANAN CITRA DIGITAL</a:t>
            </a:r>
          </a:p>
        </p:txBody>
      </p:sp>
      <p:sp>
        <p:nvSpPr>
          <p:cNvPr name="Freeform 3" id="3"/>
          <p:cNvSpPr/>
          <p:nvPr/>
        </p:nvSpPr>
        <p:spPr>
          <a:xfrm flipH="false" flipV="false" rot="-10800000">
            <a:off x="16213119" y="-70562"/>
            <a:ext cx="2058070" cy="2058070"/>
          </a:xfrm>
          <a:custGeom>
            <a:avLst/>
            <a:gdLst/>
            <a:ahLst/>
            <a:cxnLst/>
            <a:rect r="r" b="b" t="t" l="l"/>
            <a:pathLst>
              <a:path h="2058070" w="2058070">
                <a:moveTo>
                  <a:pt x="0" y="0"/>
                </a:moveTo>
                <a:lnTo>
                  <a:pt x="2058070" y="0"/>
                </a:lnTo>
                <a:lnTo>
                  <a:pt x="2058070" y="2058070"/>
                </a:lnTo>
                <a:lnTo>
                  <a:pt x="0" y="20580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rot="0">
            <a:off x="16213119" y="1987508"/>
            <a:ext cx="2071534" cy="2074870"/>
          </a:xfrm>
          <a:prstGeom prst="rect">
            <a:avLst/>
          </a:prstGeom>
          <a:solidFill>
            <a:srgbClr val="FFFFFF"/>
          </a:solidFill>
        </p:spPr>
      </p:sp>
      <p:sp>
        <p:nvSpPr>
          <p:cNvPr name="AutoShape 5" id="5"/>
          <p:cNvSpPr/>
          <p:nvPr/>
        </p:nvSpPr>
        <p:spPr>
          <a:xfrm rot="0">
            <a:off x="16213119" y="6138922"/>
            <a:ext cx="2071534" cy="2074870"/>
          </a:xfrm>
          <a:prstGeom prst="rect">
            <a:avLst/>
          </a:prstGeom>
          <a:solidFill>
            <a:srgbClr val="FE4C00"/>
          </a:solidFill>
        </p:spPr>
      </p:sp>
      <p:grpSp>
        <p:nvGrpSpPr>
          <p:cNvPr name="Group 6" id="6"/>
          <p:cNvGrpSpPr/>
          <p:nvPr/>
        </p:nvGrpSpPr>
        <p:grpSpPr>
          <a:xfrm rot="-10800000">
            <a:off x="16213119" y="1987508"/>
            <a:ext cx="2074881" cy="2078206"/>
            <a:chOff x="0" y="0"/>
            <a:chExt cx="5663761" cy="5672837"/>
          </a:xfrm>
        </p:grpSpPr>
        <p:sp>
          <p:nvSpPr>
            <p:cNvPr name="Freeform 7" id="7"/>
            <p:cNvSpPr/>
            <p:nvPr/>
          </p:nvSpPr>
          <p:spPr>
            <a:xfrm flipH="false" flipV="false" rot="0">
              <a:off x="0" y="0"/>
              <a:ext cx="5663761" cy="5672837"/>
            </a:xfrm>
            <a:custGeom>
              <a:avLst/>
              <a:gdLst/>
              <a:ahLst/>
              <a:cxnLst/>
              <a:rect r="r" b="b" t="t" l="l"/>
              <a:pathLst>
                <a:path h="5672837" w="5663761">
                  <a:moveTo>
                    <a:pt x="2850943" y="0"/>
                  </a:moveTo>
                  <a:lnTo>
                    <a:pt x="2850943" y="0"/>
                  </a:lnTo>
                  <a:lnTo>
                    <a:pt x="2821940" y="0"/>
                  </a:lnTo>
                  <a:lnTo>
                    <a:pt x="0" y="0"/>
                  </a:lnTo>
                  <a:lnTo>
                    <a:pt x="2821940" y="2839615"/>
                  </a:lnTo>
                  <a:lnTo>
                    <a:pt x="0" y="5672837"/>
                  </a:lnTo>
                  <a:lnTo>
                    <a:pt x="2821940" y="5672837"/>
                  </a:lnTo>
                  <a:lnTo>
                    <a:pt x="2850943" y="5672837"/>
                  </a:lnTo>
                  <a:lnTo>
                    <a:pt x="2850943" y="5672837"/>
                  </a:lnTo>
                  <a:lnTo>
                    <a:pt x="5663761" y="2839615"/>
                  </a:lnTo>
                  <a:close/>
                </a:path>
              </a:pathLst>
            </a:custGeom>
            <a:solidFill>
              <a:srgbClr val="FE4C00"/>
            </a:solidFill>
          </p:spPr>
        </p:sp>
      </p:grpSp>
      <p:sp>
        <p:nvSpPr>
          <p:cNvPr name="Freeform 8" id="8"/>
          <p:cNvSpPr/>
          <p:nvPr/>
        </p:nvSpPr>
        <p:spPr>
          <a:xfrm flipH="true" flipV="false" rot="-10800000">
            <a:off x="16213119" y="4065715"/>
            <a:ext cx="2071534" cy="2071534"/>
          </a:xfrm>
          <a:custGeom>
            <a:avLst/>
            <a:gdLst/>
            <a:ahLst/>
            <a:cxnLst/>
            <a:rect r="r" b="b" t="t" l="l"/>
            <a:pathLst>
              <a:path h="2071534" w="2071534">
                <a:moveTo>
                  <a:pt x="2071534" y="0"/>
                </a:moveTo>
                <a:lnTo>
                  <a:pt x="0" y="0"/>
                </a:lnTo>
                <a:lnTo>
                  <a:pt x="0" y="2071534"/>
                </a:lnTo>
                <a:lnTo>
                  <a:pt x="2071534" y="2071534"/>
                </a:lnTo>
                <a:lnTo>
                  <a:pt x="20715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17250560" y="8212119"/>
            <a:ext cx="1037440" cy="2074881"/>
          </a:xfrm>
          <a:custGeom>
            <a:avLst/>
            <a:gdLst/>
            <a:ahLst/>
            <a:cxnLst/>
            <a:rect r="r" b="b" t="t" l="l"/>
            <a:pathLst>
              <a:path h="2074881" w="1037440">
                <a:moveTo>
                  <a:pt x="0" y="0"/>
                </a:moveTo>
                <a:lnTo>
                  <a:pt x="1037440" y="0"/>
                </a:lnTo>
                <a:lnTo>
                  <a:pt x="1037440" y="2074881"/>
                </a:lnTo>
                <a:lnTo>
                  <a:pt x="0" y="20748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10800000">
            <a:off x="16213119" y="8212119"/>
            <a:ext cx="1037440" cy="2074881"/>
          </a:xfrm>
          <a:custGeom>
            <a:avLst/>
            <a:gdLst/>
            <a:ahLst/>
            <a:cxnLst/>
            <a:rect r="r" b="b" t="t" l="l"/>
            <a:pathLst>
              <a:path h="2074881" w="1037440">
                <a:moveTo>
                  <a:pt x="0" y="0"/>
                </a:moveTo>
                <a:lnTo>
                  <a:pt x="1037441" y="0"/>
                </a:lnTo>
                <a:lnTo>
                  <a:pt x="1037441" y="2074881"/>
                </a:lnTo>
                <a:lnTo>
                  <a:pt x="0" y="20748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04875"/>
            <a:ext cx="10581745" cy="10382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Anggota Kelompok</a:t>
            </a:r>
          </a:p>
        </p:txBody>
      </p:sp>
      <p:sp>
        <p:nvSpPr>
          <p:cNvPr name="Freeform 3" id="3"/>
          <p:cNvSpPr/>
          <p:nvPr/>
        </p:nvSpPr>
        <p:spPr>
          <a:xfrm flipH="false" flipV="false" rot="-10800000">
            <a:off x="16213119" y="-70562"/>
            <a:ext cx="2058070" cy="2058070"/>
          </a:xfrm>
          <a:custGeom>
            <a:avLst/>
            <a:gdLst/>
            <a:ahLst/>
            <a:cxnLst/>
            <a:rect r="r" b="b" t="t" l="l"/>
            <a:pathLst>
              <a:path h="2058070" w="2058070">
                <a:moveTo>
                  <a:pt x="0" y="0"/>
                </a:moveTo>
                <a:lnTo>
                  <a:pt x="2058070" y="0"/>
                </a:lnTo>
                <a:lnTo>
                  <a:pt x="2058070" y="2058070"/>
                </a:lnTo>
                <a:lnTo>
                  <a:pt x="0" y="20580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rot="0">
            <a:off x="16213119" y="1987508"/>
            <a:ext cx="2071534" cy="2074870"/>
          </a:xfrm>
          <a:prstGeom prst="rect">
            <a:avLst/>
          </a:prstGeom>
          <a:solidFill>
            <a:srgbClr val="FFD527"/>
          </a:solidFill>
        </p:spPr>
      </p:sp>
      <p:sp>
        <p:nvSpPr>
          <p:cNvPr name="AutoShape 5" id="5"/>
          <p:cNvSpPr/>
          <p:nvPr/>
        </p:nvSpPr>
        <p:spPr>
          <a:xfrm rot="0">
            <a:off x="16213119" y="6138922"/>
            <a:ext cx="2071534" cy="2074870"/>
          </a:xfrm>
          <a:prstGeom prst="rect">
            <a:avLst/>
          </a:prstGeom>
          <a:solidFill>
            <a:srgbClr val="FFD527"/>
          </a:solidFill>
        </p:spPr>
      </p:sp>
      <p:grpSp>
        <p:nvGrpSpPr>
          <p:cNvPr name="Group 6" id="6"/>
          <p:cNvGrpSpPr/>
          <p:nvPr/>
        </p:nvGrpSpPr>
        <p:grpSpPr>
          <a:xfrm rot="-10800000">
            <a:off x="16213119" y="1987508"/>
            <a:ext cx="2074881" cy="2078206"/>
            <a:chOff x="0" y="0"/>
            <a:chExt cx="5663761" cy="5672837"/>
          </a:xfrm>
        </p:grpSpPr>
        <p:sp>
          <p:nvSpPr>
            <p:cNvPr name="Freeform 7" id="7"/>
            <p:cNvSpPr/>
            <p:nvPr/>
          </p:nvSpPr>
          <p:spPr>
            <a:xfrm flipH="false" flipV="false" rot="0">
              <a:off x="0" y="0"/>
              <a:ext cx="5663761" cy="5672837"/>
            </a:xfrm>
            <a:custGeom>
              <a:avLst/>
              <a:gdLst/>
              <a:ahLst/>
              <a:cxnLst/>
              <a:rect r="r" b="b" t="t" l="l"/>
              <a:pathLst>
                <a:path h="5672837" w="5663761">
                  <a:moveTo>
                    <a:pt x="2850943" y="0"/>
                  </a:moveTo>
                  <a:lnTo>
                    <a:pt x="2850943" y="0"/>
                  </a:lnTo>
                  <a:lnTo>
                    <a:pt x="2821940" y="0"/>
                  </a:lnTo>
                  <a:lnTo>
                    <a:pt x="0" y="0"/>
                  </a:lnTo>
                  <a:lnTo>
                    <a:pt x="2821940" y="2839615"/>
                  </a:lnTo>
                  <a:lnTo>
                    <a:pt x="0" y="5672837"/>
                  </a:lnTo>
                  <a:lnTo>
                    <a:pt x="2821940" y="5672837"/>
                  </a:lnTo>
                  <a:lnTo>
                    <a:pt x="2850943" y="5672837"/>
                  </a:lnTo>
                  <a:lnTo>
                    <a:pt x="2850943" y="5672837"/>
                  </a:lnTo>
                  <a:lnTo>
                    <a:pt x="5663761" y="2839615"/>
                  </a:lnTo>
                  <a:close/>
                </a:path>
              </a:pathLst>
            </a:custGeom>
            <a:solidFill>
              <a:srgbClr val="FFFFFF"/>
            </a:solidFill>
          </p:spPr>
        </p:sp>
      </p:grpSp>
      <p:sp>
        <p:nvSpPr>
          <p:cNvPr name="Freeform 8" id="8"/>
          <p:cNvSpPr/>
          <p:nvPr/>
        </p:nvSpPr>
        <p:spPr>
          <a:xfrm flipH="true" flipV="false" rot="-10800000">
            <a:off x="16213119" y="4065715"/>
            <a:ext cx="2071534" cy="2071534"/>
          </a:xfrm>
          <a:custGeom>
            <a:avLst/>
            <a:gdLst/>
            <a:ahLst/>
            <a:cxnLst/>
            <a:rect r="r" b="b" t="t" l="l"/>
            <a:pathLst>
              <a:path h="2071534" w="2071534">
                <a:moveTo>
                  <a:pt x="2071534" y="0"/>
                </a:moveTo>
                <a:lnTo>
                  <a:pt x="0" y="0"/>
                </a:lnTo>
                <a:lnTo>
                  <a:pt x="0" y="2071534"/>
                </a:lnTo>
                <a:lnTo>
                  <a:pt x="2071534" y="2071534"/>
                </a:lnTo>
                <a:lnTo>
                  <a:pt x="207153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0800000">
            <a:off x="17250560" y="8212119"/>
            <a:ext cx="1037440" cy="2074881"/>
          </a:xfrm>
          <a:custGeom>
            <a:avLst/>
            <a:gdLst/>
            <a:ahLst/>
            <a:cxnLst/>
            <a:rect r="r" b="b" t="t" l="l"/>
            <a:pathLst>
              <a:path h="2074881" w="1037440">
                <a:moveTo>
                  <a:pt x="0" y="0"/>
                </a:moveTo>
                <a:lnTo>
                  <a:pt x="1037440" y="0"/>
                </a:lnTo>
                <a:lnTo>
                  <a:pt x="1037440" y="2074881"/>
                </a:lnTo>
                <a:lnTo>
                  <a:pt x="0" y="20748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10800000">
            <a:off x="16213119" y="8212119"/>
            <a:ext cx="1037440" cy="2074881"/>
          </a:xfrm>
          <a:custGeom>
            <a:avLst/>
            <a:gdLst/>
            <a:ahLst/>
            <a:cxnLst/>
            <a:rect r="r" b="b" t="t" l="l"/>
            <a:pathLst>
              <a:path h="2074881" w="1037440">
                <a:moveTo>
                  <a:pt x="0" y="0"/>
                </a:moveTo>
                <a:lnTo>
                  <a:pt x="1037441" y="0"/>
                </a:lnTo>
                <a:lnTo>
                  <a:pt x="1037441" y="2074881"/>
                </a:lnTo>
                <a:lnTo>
                  <a:pt x="0" y="20748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1" id="11"/>
          <p:cNvGrpSpPr/>
          <p:nvPr/>
        </p:nvGrpSpPr>
        <p:grpSpPr>
          <a:xfrm rot="0">
            <a:off x="502965" y="3376579"/>
            <a:ext cx="8286750" cy="5416711"/>
            <a:chOff x="0" y="0"/>
            <a:chExt cx="11049000" cy="7222281"/>
          </a:xfrm>
        </p:grpSpPr>
        <p:sp>
          <p:nvSpPr>
            <p:cNvPr name="TextBox 12" id="12"/>
            <p:cNvSpPr txBox="true"/>
            <p:nvPr/>
          </p:nvSpPr>
          <p:spPr>
            <a:xfrm rot="0">
              <a:off x="0" y="-95250"/>
              <a:ext cx="11049000" cy="1107017"/>
            </a:xfrm>
            <a:prstGeom prst="rect">
              <a:avLst/>
            </a:prstGeom>
          </p:spPr>
          <p:txBody>
            <a:bodyPr anchor="t" rtlCol="false" tIns="0" lIns="0" bIns="0" rIns="0">
              <a:spAutoFit/>
            </a:bodyPr>
            <a:lstStyle/>
            <a:p>
              <a:pPr algn="ctr" marL="1079501" indent="-539750" lvl="1">
                <a:lnSpc>
                  <a:spcPts val="7000"/>
                </a:lnSpc>
                <a:buFont typeface="Arial"/>
                <a:buChar char="•"/>
              </a:pPr>
              <a:r>
                <a:rPr lang="en-US" b="true" sz="5000">
                  <a:solidFill>
                    <a:srgbClr val="000000"/>
                  </a:solidFill>
                  <a:latin typeface="Muli Bold"/>
                  <a:ea typeface="Muli Bold"/>
                  <a:cs typeface="Muli Bold"/>
                  <a:sym typeface="Muli Bold"/>
                </a:rPr>
                <a:t>Peppy Parhani Nopianti</a:t>
              </a:r>
            </a:p>
          </p:txBody>
        </p:sp>
        <p:sp>
          <p:nvSpPr>
            <p:cNvPr name="TextBox 13" id="13"/>
            <p:cNvSpPr txBox="true"/>
            <p:nvPr/>
          </p:nvSpPr>
          <p:spPr>
            <a:xfrm rot="0">
              <a:off x="29313" y="1803445"/>
              <a:ext cx="7726164" cy="1107017"/>
            </a:xfrm>
            <a:prstGeom prst="rect">
              <a:avLst/>
            </a:prstGeom>
          </p:spPr>
          <p:txBody>
            <a:bodyPr anchor="t" rtlCol="false" tIns="0" lIns="0" bIns="0" rIns="0">
              <a:spAutoFit/>
            </a:bodyPr>
            <a:lstStyle/>
            <a:p>
              <a:pPr algn="ctr" marL="1079501" indent="-539750" lvl="1">
                <a:lnSpc>
                  <a:spcPts val="7000"/>
                </a:lnSpc>
                <a:buFont typeface="Arial"/>
                <a:buChar char="•"/>
              </a:pPr>
              <a:r>
                <a:rPr lang="en-US" b="true" sz="5000">
                  <a:solidFill>
                    <a:srgbClr val="000000"/>
                  </a:solidFill>
                  <a:latin typeface="Muli Bold"/>
                  <a:ea typeface="Muli Bold"/>
                  <a:cs typeface="Muli Bold"/>
                  <a:sym typeface="Muli Bold"/>
                </a:rPr>
                <a:t>Siti Rahma Alia</a:t>
              </a:r>
            </a:p>
          </p:txBody>
        </p:sp>
        <p:sp>
          <p:nvSpPr>
            <p:cNvPr name="TextBox 14" id="14"/>
            <p:cNvSpPr txBox="true"/>
            <p:nvPr/>
          </p:nvSpPr>
          <p:spPr>
            <a:xfrm rot="0">
              <a:off x="0" y="3959355"/>
              <a:ext cx="9984604" cy="1107017"/>
            </a:xfrm>
            <a:prstGeom prst="rect">
              <a:avLst/>
            </a:prstGeom>
          </p:spPr>
          <p:txBody>
            <a:bodyPr anchor="t" rtlCol="false" tIns="0" lIns="0" bIns="0" rIns="0">
              <a:spAutoFit/>
            </a:bodyPr>
            <a:lstStyle/>
            <a:p>
              <a:pPr algn="ctr" marL="1079501" indent="-539750" lvl="1">
                <a:lnSpc>
                  <a:spcPts val="7000"/>
                </a:lnSpc>
                <a:buFont typeface="Arial"/>
                <a:buChar char="•"/>
              </a:pPr>
              <a:r>
                <a:rPr lang="en-US" b="true" sz="5000">
                  <a:solidFill>
                    <a:srgbClr val="000000"/>
                  </a:solidFill>
                  <a:latin typeface="Muli Bold"/>
                  <a:ea typeface="Muli Bold"/>
                  <a:cs typeface="Muli Bold"/>
                  <a:sym typeface="Muli Bold"/>
                </a:rPr>
                <a:t>Nasyid Naofal Putra</a:t>
              </a:r>
            </a:p>
          </p:txBody>
        </p:sp>
        <p:sp>
          <p:nvSpPr>
            <p:cNvPr name="TextBox 15" id="15"/>
            <p:cNvSpPr txBox="true"/>
            <p:nvPr/>
          </p:nvSpPr>
          <p:spPr>
            <a:xfrm rot="0">
              <a:off x="0" y="6115265"/>
              <a:ext cx="9734458" cy="1107017"/>
            </a:xfrm>
            <a:prstGeom prst="rect">
              <a:avLst/>
            </a:prstGeom>
          </p:spPr>
          <p:txBody>
            <a:bodyPr anchor="t" rtlCol="false" tIns="0" lIns="0" bIns="0" rIns="0">
              <a:spAutoFit/>
            </a:bodyPr>
            <a:lstStyle/>
            <a:p>
              <a:pPr algn="ctr" marL="1079501" indent="-539750" lvl="1">
                <a:lnSpc>
                  <a:spcPts val="7000"/>
                </a:lnSpc>
                <a:buFont typeface="Arial"/>
                <a:buChar char="•"/>
              </a:pPr>
              <a:r>
                <a:rPr lang="en-US" b="true" sz="5000">
                  <a:solidFill>
                    <a:srgbClr val="000000"/>
                  </a:solidFill>
                  <a:latin typeface="Muli Bold"/>
                  <a:ea typeface="Muli Bold"/>
                  <a:cs typeface="Muli Bold"/>
                  <a:sym typeface="Muli Bold"/>
                </a:rPr>
                <a:t>M Farhan Rizkilillah</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987508"/>
            <a:ext cx="10581745" cy="4957351"/>
            <a:chOff x="0" y="0"/>
            <a:chExt cx="14108993" cy="6609801"/>
          </a:xfrm>
        </p:grpSpPr>
        <p:sp>
          <p:nvSpPr>
            <p:cNvPr name="TextBox 3" id="3"/>
            <p:cNvSpPr txBox="true"/>
            <p:nvPr/>
          </p:nvSpPr>
          <p:spPr>
            <a:xfrm rot="0">
              <a:off x="0" y="-123825"/>
              <a:ext cx="14108993" cy="13430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Deskripsi Kasus</a:t>
              </a:r>
            </a:p>
          </p:txBody>
        </p:sp>
        <p:sp>
          <p:nvSpPr>
            <p:cNvPr name="TextBox 4" id="4"/>
            <p:cNvSpPr txBox="true"/>
            <p:nvPr/>
          </p:nvSpPr>
          <p:spPr>
            <a:xfrm rot="0">
              <a:off x="0" y="1973243"/>
              <a:ext cx="14108993" cy="4636558"/>
            </a:xfrm>
            <a:prstGeom prst="rect">
              <a:avLst/>
            </a:prstGeom>
          </p:spPr>
          <p:txBody>
            <a:bodyPr anchor="t" rtlCol="false" tIns="0" lIns="0" bIns="0" rIns="0">
              <a:spAutoFit/>
            </a:bodyPr>
            <a:lstStyle/>
            <a:p>
              <a:pPr algn="l">
                <a:lnSpc>
                  <a:spcPts val="3500"/>
                </a:lnSpc>
              </a:pPr>
              <a:r>
                <a:rPr lang="en-US" sz="2500">
                  <a:solidFill>
                    <a:srgbClr val="000000"/>
                  </a:solidFill>
                  <a:latin typeface="Muli"/>
                  <a:ea typeface="Muli"/>
                  <a:cs typeface="Muli"/>
                  <a:sym typeface="Muli"/>
                </a:rPr>
                <a:t>Stu</a:t>
              </a:r>
              <a:r>
                <a:rPr lang="en-US" sz="2500">
                  <a:solidFill>
                    <a:srgbClr val="000000"/>
                  </a:solidFill>
                  <a:latin typeface="Muli"/>
                  <a:ea typeface="Muli"/>
                  <a:cs typeface="Muli"/>
                  <a:sym typeface="Muli"/>
                </a:rPr>
                <a:t>di kasus ini membahas penerapan keamanan citra digital pada dataset MIT Indoor Scene Recognition, yang berisi citra lingkungan dalam ruangan, seperti ruang kelas, kantor, restoran, dan area publik lainnya.</a:t>
              </a:r>
            </a:p>
            <a:p>
              <a:pPr algn="l">
                <a:lnSpc>
                  <a:spcPts val="3499"/>
                </a:lnSpc>
              </a:pPr>
              <a:r>
                <a:rPr lang="en-US" sz="2499">
                  <a:solidFill>
                    <a:srgbClr val="000000"/>
                  </a:solidFill>
                  <a:latin typeface="Muli"/>
                  <a:ea typeface="Muli"/>
                  <a:cs typeface="Muli"/>
                  <a:sym typeface="Muli"/>
                </a:rPr>
                <a:t>Fokus utama adalah menjaga kerahasiaan, integritas, dan keaslian citra saat penyimpan</a:t>
              </a:r>
              <a:r>
                <a:rPr lang="en-US" sz="2499">
                  <a:solidFill>
                    <a:srgbClr val="000000"/>
                  </a:solidFill>
                  <a:latin typeface="Muli"/>
                  <a:ea typeface="Muli"/>
                  <a:cs typeface="Muli"/>
                  <a:sym typeface="Muli"/>
                </a:rPr>
                <a:t>an, distribusi, dan pengiriman. Penelitian ini menggunakan citra sebagai objek pengujian untuk proses enkripsi dan dekripsi.</a:t>
              </a:r>
            </a:p>
          </p:txBody>
        </p:sp>
      </p:grpSp>
      <p:sp>
        <p:nvSpPr>
          <p:cNvPr name="Freeform 5" id="5"/>
          <p:cNvSpPr/>
          <p:nvPr/>
        </p:nvSpPr>
        <p:spPr>
          <a:xfrm flipH="false" flipV="false" rot="-10800000">
            <a:off x="16213119" y="-70562"/>
            <a:ext cx="2058070" cy="2058070"/>
          </a:xfrm>
          <a:custGeom>
            <a:avLst/>
            <a:gdLst/>
            <a:ahLst/>
            <a:cxnLst/>
            <a:rect r="r" b="b" t="t" l="l"/>
            <a:pathLst>
              <a:path h="2058070" w="2058070">
                <a:moveTo>
                  <a:pt x="0" y="0"/>
                </a:moveTo>
                <a:lnTo>
                  <a:pt x="2058070" y="0"/>
                </a:lnTo>
                <a:lnTo>
                  <a:pt x="2058070" y="2058070"/>
                </a:lnTo>
                <a:lnTo>
                  <a:pt x="0" y="20580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rot="0">
            <a:off x="16213119" y="1987508"/>
            <a:ext cx="2071534" cy="2074870"/>
          </a:xfrm>
          <a:prstGeom prst="rect">
            <a:avLst/>
          </a:prstGeom>
          <a:solidFill>
            <a:srgbClr val="FFD527"/>
          </a:solidFill>
        </p:spPr>
      </p:sp>
      <p:sp>
        <p:nvSpPr>
          <p:cNvPr name="AutoShape 7" id="7"/>
          <p:cNvSpPr/>
          <p:nvPr/>
        </p:nvSpPr>
        <p:spPr>
          <a:xfrm rot="0">
            <a:off x="16213119" y="6138922"/>
            <a:ext cx="2071534" cy="2074870"/>
          </a:xfrm>
          <a:prstGeom prst="rect">
            <a:avLst/>
          </a:prstGeom>
          <a:solidFill>
            <a:srgbClr val="FFD527"/>
          </a:solidFill>
        </p:spPr>
      </p:sp>
      <p:grpSp>
        <p:nvGrpSpPr>
          <p:cNvPr name="Group 8" id="8"/>
          <p:cNvGrpSpPr/>
          <p:nvPr/>
        </p:nvGrpSpPr>
        <p:grpSpPr>
          <a:xfrm rot="-10800000">
            <a:off x="16213119" y="1987508"/>
            <a:ext cx="2074881" cy="2078206"/>
            <a:chOff x="0" y="0"/>
            <a:chExt cx="5663761" cy="5672837"/>
          </a:xfrm>
        </p:grpSpPr>
        <p:sp>
          <p:nvSpPr>
            <p:cNvPr name="Freeform 9" id="9"/>
            <p:cNvSpPr/>
            <p:nvPr/>
          </p:nvSpPr>
          <p:spPr>
            <a:xfrm flipH="false" flipV="false" rot="0">
              <a:off x="0" y="0"/>
              <a:ext cx="5663761" cy="5672837"/>
            </a:xfrm>
            <a:custGeom>
              <a:avLst/>
              <a:gdLst/>
              <a:ahLst/>
              <a:cxnLst/>
              <a:rect r="r" b="b" t="t" l="l"/>
              <a:pathLst>
                <a:path h="5672837" w="5663761">
                  <a:moveTo>
                    <a:pt x="2850943" y="0"/>
                  </a:moveTo>
                  <a:lnTo>
                    <a:pt x="2850943" y="0"/>
                  </a:lnTo>
                  <a:lnTo>
                    <a:pt x="2821940" y="0"/>
                  </a:lnTo>
                  <a:lnTo>
                    <a:pt x="0" y="0"/>
                  </a:lnTo>
                  <a:lnTo>
                    <a:pt x="2821940" y="2839615"/>
                  </a:lnTo>
                  <a:lnTo>
                    <a:pt x="0" y="5672837"/>
                  </a:lnTo>
                  <a:lnTo>
                    <a:pt x="2821940" y="5672837"/>
                  </a:lnTo>
                  <a:lnTo>
                    <a:pt x="2850943" y="5672837"/>
                  </a:lnTo>
                  <a:lnTo>
                    <a:pt x="2850943" y="5672837"/>
                  </a:lnTo>
                  <a:lnTo>
                    <a:pt x="5663761" y="2839615"/>
                  </a:lnTo>
                  <a:close/>
                </a:path>
              </a:pathLst>
            </a:custGeom>
            <a:solidFill>
              <a:srgbClr val="FFFFFF"/>
            </a:solidFill>
          </p:spPr>
        </p:sp>
      </p:grpSp>
      <p:sp>
        <p:nvSpPr>
          <p:cNvPr name="Freeform 10" id="10"/>
          <p:cNvSpPr/>
          <p:nvPr/>
        </p:nvSpPr>
        <p:spPr>
          <a:xfrm flipH="true" flipV="false" rot="-10800000">
            <a:off x="16213119" y="4065715"/>
            <a:ext cx="2071534" cy="2071534"/>
          </a:xfrm>
          <a:custGeom>
            <a:avLst/>
            <a:gdLst/>
            <a:ahLst/>
            <a:cxnLst/>
            <a:rect r="r" b="b" t="t" l="l"/>
            <a:pathLst>
              <a:path h="2071534" w="2071534">
                <a:moveTo>
                  <a:pt x="2071534" y="0"/>
                </a:moveTo>
                <a:lnTo>
                  <a:pt x="0" y="0"/>
                </a:lnTo>
                <a:lnTo>
                  <a:pt x="0" y="2071534"/>
                </a:lnTo>
                <a:lnTo>
                  <a:pt x="2071534" y="2071534"/>
                </a:lnTo>
                <a:lnTo>
                  <a:pt x="207153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7250560" y="8212119"/>
            <a:ext cx="1037440" cy="2074881"/>
          </a:xfrm>
          <a:custGeom>
            <a:avLst/>
            <a:gdLst/>
            <a:ahLst/>
            <a:cxnLst/>
            <a:rect r="r" b="b" t="t" l="l"/>
            <a:pathLst>
              <a:path h="2074881" w="1037440">
                <a:moveTo>
                  <a:pt x="0" y="0"/>
                </a:moveTo>
                <a:lnTo>
                  <a:pt x="1037440" y="0"/>
                </a:lnTo>
                <a:lnTo>
                  <a:pt x="1037440" y="2074881"/>
                </a:lnTo>
                <a:lnTo>
                  <a:pt x="0" y="20748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10800000">
            <a:off x="16213119" y="8212119"/>
            <a:ext cx="1037440" cy="2074881"/>
          </a:xfrm>
          <a:custGeom>
            <a:avLst/>
            <a:gdLst/>
            <a:ahLst/>
            <a:cxnLst/>
            <a:rect r="r" b="b" t="t" l="l"/>
            <a:pathLst>
              <a:path h="2074881" w="1037440">
                <a:moveTo>
                  <a:pt x="0" y="0"/>
                </a:moveTo>
                <a:lnTo>
                  <a:pt x="1037441" y="0"/>
                </a:lnTo>
                <a:lnTo>
                  <a:pt x="1037441" y="2074881"/>
                </a:lnTo>
                <a:lnTo>
                  <a:pt x="0" y="20748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89342" y="2158078"/>
            <a:ext cx="12678545" cy="2549833"/>
            <a:chOff x="0" y="0"/>
            <a:chExt cx="16904726" cy="3399778"/>
          </a:xfrm>
        </p:grpSpPr>
        <p:sp>
          <p:nvSpPr>
            <p:cNvPr name="TextBox 3" id="3"/>
            <p:cNvSpPr txBox="true"/>
            <p:nvPr/>
          </p:nvSpPr>
          <p:spPr>
            <a:xfrm rot="0">
              <a:off x="0" y="-123825"/>
              <a:ext cx="16904726" cy="27654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Karakteristik Citra yang Digunakan</a:t>
              </a:r>
            </a:p>
          </p:txBody>
        </p:sp>
        <p:sp>
          <p:nvSpPr>
            <p:cNvPr name="TextBox 4" id="4"/>
            <p:cNvSpPr txBox="true"/>
            <p:nvPr/>
          </p:nvSpPr>
          <p:spPr>
            <a:xfrm rot="0">
              <a:off x="0" y="2852620"/>
              <a:ext cx="16904726" cy="547158"/>
            </a:xfrm>
            <a:prstGeom prst="rect">
              <a:avLst/>
            </a:prstGeom>
          </p:spPr>
          <p:txBody>
            <a:bodyPr anchor="t" rtlCol="false" tIns="0" lIns="0" bIns="0" rIns="0">
              <a:spAutoFit/>
            </a:bodyPr>
            <a:lstStyle/>
            <a:p>
              <a:pPr algn="l" marL="0" indent="0" lvl="0">
                <a:lnSpc>
                  <a:spcPts val="3500"/>
                </a:lnSpc>
                <a:spcBef>
                  <a:spcPct val="0"/>
                </a:spcBef>
              </a:pPr>
            </a:p>
          </p:txBody>
        </p:sp>
      </p:grpSp>
      <p:sp>
        <p:nvSpPr>
          <p:cNvPr name="TextBox 5" id="5"/>
          <p:cNvSpPr txBox="true"/>
          <p:nvPr/>
        </p:nvSpPr>
        <p:spPr>
          <a:xfrm rot="0">
            <a:off x="3489342" y="4607426"/>
            <a:ext cx="12678545" cy="2603500"/>
          </a:xfrm>
          <a:prstGeom prst="rect">
            <a:avLst/>
          </a:prstGeom>
        </p:spPr>
        <p:txBody>
          <a:bodyPr anchor="t" rtlCol="false" tIns="0" lIns="0" bIns="0" rIns="0">
            <a:spAutoFit/>
          </a:bodyPr>
          <a:lstStyle/>
          <a:p>
            <a:pPr algn="just" marL="539749" indent="-269875" lvl="1">
              <a:lnSpc>
                <a:spcPts val="3499"/>
              </a:lnSpc>
              <a:buFont typeface="Arial"/>
              <a:buChar char="•"/>
            </a:pPr>
            <a:r>
              <a:rPr lang="en-US" sz="2499">
                <a:solidFill>
                  <a:srgbClr val="000000"/>
                </a:solidFill>
                <a:latin typeface="Muli"/>
                <a:ea typeface="Muli"/>
                <a:cs typeface="Muli"/>
                <a:sym typeface="Muli"/>
              </a:rPr>
              <a:t>Tipe Citra: Digital berwarna (RGB)</a:t>
            </a:r>
          </a:p>
          <a:p>
            <a:pPr algn="just" marL="539749" indent="-269875" lvl="1">
              <a:lnSpc>
                <a:spcPts val="3499"/>
              </a:lnSpc>
              <a:buFont typeface="Arial"/>
              <a:buChar char="•"/>
            </a:pPr>
            <a:r>
              <a:rPr lang="en-US" sz="2499">
                <a:solidFill>
                  <a:srgbClr val="000000"/>
                </a:solidFill>
                <a:latin typeface="Muli"/>
                <a:ea typeface="Muli"/>
                <a:cs typeface="Muli"/>
                <a:sym typeface="Muli"/>
              </a:rPr>
              <a:t>Format: JPEG</a:t>
            </a:r>
          </a:p>
          <a:p>
            <a:pPr algn="just" marL="539749" indent="-269875" lvl="1">
              <a:lnSpc>
                <a:spcPts val="3499"/>
              </a:lnSpc>
              <a:buFont typeface="Arial"/>
              <a:buChar char="•"/>
            </a:pPr>
            <a:r>
              <a:rPr lang="en-US" sz="2499">
                <a:solidFill>
                  <a:srgbClr val="000000"/>
                </a:solidFill>
                <a:latin typeface="Muli"/>
                <a:ea typeface="Muli"/>
                <a:cs typeface="Muli"/>
                <a:sym typeface="Muli"/>
              </a:rPr>
              <a:t>Resolusi: Tinggi, menampilkan objek secara utuh</a:t>
            </a:r>
          </a:p>
          <a:p>
            <a:pPr algn="just" marL="539749" indent="-269875" lvl="1">
              <a:lnSpc>
                <a:spcPts val="3499"/>
              </a:lnSpc>
              <a:buFont typeface="Arial"/>
              <a:buChar char="•"/>
            </a:pPr>
            <a:r>
              <a:rPr lang="en-US" sz="2499">
                <a:solidFill>
                  <a:srgbClr val="000000"/>
                </a:solidFill>
                <a:latin typeface="Muli"/>
                <a:ea typeface="Muli"/>
                <a:cs typeface="Muli"/>
                <a:sym typeface="Muli"/>
              </a:rPr>
              <a:t>Sumber: Dataset MIT Indoor Scene Recognition, publik tanpa autentikasi API</a:t>
            </a:r>
          </a:p>
          <a:p>
            <a:pPr algn="just" marL="539749" indent="-269875" lvl="1">
              <a:lnSpc>
                <a:spcPts val="3499"/>
              </a:lnSpc>
              <a:buFont typeface="Arial"/>
              <a:buChar char="•"/>
            </a:pPr>
            <a:r>
              <a:rPr lang="en-US" sz="2499">
                <a:solidFill>
                  <a:srgbClr val="000000"/>
                </a:solidFill>
                <a:latin typeface="Muli"/>
                <a:ea typeface="Muli"/>
                <a:cs typeface="Muli"/>
                <a:sym typeface="Muli"/>
              </a:rPr>
              <a:t>Citra ini dipilih karena representatif untuk pengujian keamanan citra digital, menampilkan berbagai jenis lingkungan dalam ruangan.</a:t>
            </a:r>
          </a:p>
        </p:txBody>
      </p:sp>
      <p:sp>
        <p:nvSpPr>
          <p:cNvPr name="Freeform 6" id="6"/>
          <p:cNvSpPr/>
          <p:nvPr/>
        </p:nvSpPr>
        <p:spPr>
          <a:xfrm flipH="false" flipV="false" rot="-10800000">
            <a:off x="1030373" y="-16696"/>
            <a:ext cx="1030373" cy="2060746"/>
          </a:xfrm>
          <a:custGeom>
            <a:avLst/>
            <a:gdLst/>
            <a:ahLst/>
            <a:cxnLst/>
            <a:rect r="r" b="b" t="t" l="l"/>
            <a:pathLst>
              <a:path h="2060746" w="1030373">
                <a:moveTo>
                  <a:pt x="0" y="0"/>
                </a:moveTo>
                <a:lnTo>
                  <a:pt x="1030373" y="0"/>
                </a:lnTo>
                <a:lnTo>
                  <a:pt x="1030373" y="2060746"/>
                </a:lnTo>
                <a:lnTo>
                  <a:pt x="0" y="20607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0" y="-16696"/>
            <a:ext cx="1030373" cy="2060746"/>
          </a:xfrm>
          <a:custGeom>
            <a:avLst/>
            <a:gdLst/>
            <a:ahLst/>
            <a:cxnLst/>
            <a:rect r="r" b="b" t="t" l="l"/>
            <a:pathLst>
              <a:path h="2060746" w="1030373">
                <a:moveTo>
                  <a:pt x="0" y="0"/>
                </a:moveTo>
                <a:lnTo>
                  <a:pt x="1030373" y="0"/>
                </a:lnTo>
                <a:lnTo>
                  <a:pt x="1030373" y="2060746"/>
                </a:lnTo>
                <a:lnTo>
                  <a:pt x="0" y="20607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false" rot="-10800000">
            <a:off x="0" y="8242950"/>
            <a:ext cx="2044050" cy="2044050"/>
          </a:xfrm>
          <a:custGeom>
            <a:avLst/>
            <a:gdLst/>
            <a:ahLst/>
            <a:cxnLst/>
            <a:rect r="r" b="b" t="t" l="l"/>
            <a:pathLst>
              <a:path h="2044050" w="2044050">
                <a:moveTo>
                  <a:pt x="2044050" y="0"/>
                </a:moveTo>
                <a:lnTo>
                  <a:pt x="0" y="0"/>
                </a:lnTo>
                <a:lnTo>
                  <a:pt x="0" y="2044050"/>
                </a:lnTo>
                <a:lnTo>
                  <a:pt x="2044050" y="2044050"/>
                </a:lnTo>
                <a:lnTo>
                  <a:pt x="204405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9" id="9"/>
          <p:cNvSpPr/>
          <p:nvPr/>
        </p:nvSpPr>
        <p:spPr>
          <a:xfrm rot="0">
            <a:off x="0" y="2044050"/>
            <a:ext cx="2057422" cy="2060735"/>
          </a:xfrm>
          <a:prstGeom prst="rect">
            <a:avLst/>
          </a:prstGeom>
          <a:solidFill>
            <a:srgbClr val="006BCB"/>
          </a:solidFill>
        </p:spPr>
      </p:sp>
      <p:sp>
        <p:nvSpPr>
          <p:cNvPr name="AutoShape 10" id="10"/>
          <p:cNvSpPr/>
          <p:nvPr/>
        </p:nvSpPr>
        <p:spPr>
          <a:xfrm rot="0">
            <a:off x="0" y="6167181"/>
            <a:ext cx="2057422" cy="2060735"/>
          </a:xfrm>
          <a:prstGeom prst="rect">
            <a:avLst/>
          </a:prstGeom>
          <a:solidFill>
            <a:srgbClr val="006BCB"/>
          </a:solidFill>
        </p:spPr>
      </p:sp>
      <p:grpSp>
        <p:nvGrpSpPr>
          <p:cNvPr name="Group 11" id="11"/>
          <p:cNvGrpSpPr/>
          <p:nvPr/>
        </p:nvGrpSpPr>
        <p:grpSpPr>
          <a:xfrm rot="-10800000">
            <a:off x="0" y="6178902"/>
            <a:ext cx="2060746" cy="2064048"/>
            <a:chOff x="0" y="0"/>
            <a:chExt cx="5663761" cy="5672837"/>
          </a:xfrm>
        </p:grpSpPr>
        <p:sp>
          <p:nvSpPr>
            <p:cNvPr name="Freeform 12" id="12"/>
            <p:cNvSpPr/>
            <p:nvPr/>
          </p:nvSpPr>
          <p:spPr>
            <a:xfrm flipH="false" flipV="false" rot="0">
              <a:off x="0" y="0"/>
              <a:ext cx="5663761" cy="5672837"/>
            </a:xfrm>
            <a:custGeom>
              <a:avLst/>
              <a:gdLst/>
              <a:ahLst/>
              <a:cxnLst/>
              <a:rect r="r" b="b" t="t" l="l"/>
              <a:pathLst>
                <a:path h="5672837" w="5663761">
                  <a:moveTo>
                    <a:pt x="2850943" y="0"/>
                  </a:moveTo>
                  <a:lnTo>
                    <a:pt x="2850943" y="0"/>
                  </a:lnTo>
                  <a:lnTo>
                    <a:pt x="2821940" y="0"/>
                  </a:lnTo>
                  <a:lnTo>
                    <a:pt x="0" y="0"/>
                  </a:lnTo>
                  <a:lnTo>
                    <a:pt x="2821940" y="2839615"/>
                  </a:lnTo>
                  <a:lnTo>
                    <a:pt x="0" y="5672837"/>
                  </a:lnTo>
                  <a:lnTo>
                    <a:pt x="2821940" y="5672837"/>
                  </a:lnTo>
                  <a:lnTo>
                    <a:pt x="2850943" y="5672837"/>
                  </a:lnTo>
                  <a:lnTo>
                    <a:pt x="2850943" y="5672837"/>
                  </a:lnTo>
                  <a:lnTo>
                    <a:pt x="5663761" y="2839615"/>
                  </a:lnTo>
                  <a:close/>
                </a:path>
              </a:pathLst>
            </a:custGeom>
            <a:solidFill>
              <a:srgbClr val="FFFFFF"/>
            </a:solidFill>
          </p:spPr>
        </p:sp>
      </p:grpSp>
      <p:sp>
        <p:nvSpPr>
          <p:cNvPr name="Freeform 13" id="13"/>
          <p:cNvSpPr/>
          <p:nvPr/>
        </p:nvSpPr>
        <p:spPr>
          <a:xfrm flipH="true" flipV="false" rot="-10800000">
            <a:off x="0" y="4108098"/>
            <a:ext cx="2057422" cy="2057422"/>
          </a:xfrm>
          <a:custGeom>
            <a:avLst/>
            <a:gdLst/>
            <a:ahLst/>
            <a:cxnLst/>
            <a:rect r="r" b="b" t="t" l="l"/>
            <a:pathLst>
              <a:path h="2057422" w="2057422">
                <a:moveTo>
                  <a:pt x="2057422" y="0"/>
                </a:moveTo>
                <a:lnTo>
                  <a:pt x="0" y="0"/>
                </a:lnTo>
                <a:lnTo>
                  <a:pt x="0" y="2057421"/>
                </a:lnTo>
                <a:lnTo>
                  <a:pt x="2057422" y="2057421"/>
                </a:lnTo>
                <a:lnTo>
                  <a:pt x="205742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987508"/>
            <a:ext cx="11819797" cy="4519201"/>
            <a:chOff x="0" y="0"/>
            <a:chExt cx="15759729" cy="6025601"/>
          </a:xfrm>
        </p:grpSpPr>
        <p:sp>
          <p:nvSpPr>
            <p:cNvPr name="TextBox 3" id="3"/>
            <p:cNvSpPr txBox="true"/>
            <p:nvPr/>
          </p:nvSpPr>
          <p:spPr>
            <a:xfrm rot="0">
              <a:off x="0" y="-123825"/>
              <a:ext cx="15759729" cy="13430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Pentingnya Keamanan Citra</a:t>
              </a:r>
            </a:p>
          </p:txBody>
        </p:sp>
        <p:sp>
          <p:nvSpPr>
            <p:cNvPr name="TextBox 4" id="4"/>
            <p:cNvSpPr txBox="true"/>
            <p:nvPr/>
          </p:nvSpPr>
          <p:spPr>
            <a:xfrm rot="0">
              <a:off x="0" y="1973243"/>
              <a:ext cx="15759729" cy="4052358"/>
            </a:xfrm>
            <a:prstGeom prst="rect">
              <a:avLst/>
            </a:prstGeom>
          </p:spPr>
          <p:txBody>
            <a:bodyPr anchor="t" rtlCol="false" tIns="0" lIns="0" bIns="0" rIns="0">
              <a:spAutoFit/>
            </a:bodyPr>
            <a:lstStyle/>
            <a:p>
              <a:pPr algn="just" marL="539751" indent="-269876" lvl="1">
                <a:lnSpc>
                  <a:spcPts val="3500"/>
                </a:lnSpc>
                <a:buFont typeface="Arial"/>
                <a:buChar char="•"/>
              </a:pPr>
              <a:r>
                <a:rPr lang="en-US" sz="2500">
                  <a:solidFill>
                    <a:srgbClr val="000000"/>
                  </a:solidFill>
                  <a:latin typeface="Muli"/>
                  <a:ea typeface="Muli"/>
                  <a:cs typeface="Muli"/>
                  <a:sym typeface="Muli"/>
                </a:rPr>
                <a:t>Citr</a:t>
              </a:r>
              <a:r>
                <a:rPr lang="en-US" sz="2500">
                  <a:solidFill>
                    <a:srgbClr val="000000"/>
                  </a:solidFill>
                  <a:latin typeface="Muli"/>
                  <a:ea typeface="Muli"/>
                  <a:cs typeface="Muli"/>
                  <a:sym typeface="Muli"/>
                </a:rPr>
                <a:t>a dapat mengandung informasi sensitif tentang lokasi atau kondisi lingkungan.</a:t>
              </a:r>
            </a:p>
            <a:p>
              <a:pPr algn="just" marL="539751" indent="-269876" lvl="1">
                <a:lnSpc>
                  <a:spcPts val="3500"/>
                </a:lnSpc>
                <a:buFont typeface="Arial"/>
                <a:buChar char="•"/>
              </a:pPr>
              <a:r>
                <a:rPr lang="en-US" sz="2500">
                  <a:solidFill>
                    <a:srgbClr val="000000"/>
                  </a:solidFill>
                  <a:latin typeface="Muli"/>
                  <a:ea typeface="Muli"/>
                  <a:cs typeface="Muli"/>
                  <a:sym typeface="Muli"/>
                </a:rPr>
                <a:t>Tanpa pengamanan, citra mudah disalin, dimodifikasi, atau disebarkan.</a:t>
              </a:r>
            </a:p>
            <a:p>
              <a:pPr algn="just" marL="539751" indent="-269876" lvl="1">
                <a:lnSpc>
                  <a:spcPts val="3500"/>
                </a:lnSpc>
                <a:buFont typeface="Arial"/>
                <a:buChar char="•"/>
              </a:pPr>
              <a:r>
                <a:rPr lang="en-US" sz="2500">
                  <a:solidFill>
                    <a:srgbClr val="000000"/>
                  </a:solidFill>
                  <a:latin typeface="Muli"/>
                  <a:ea typeface="Muli"/>
                  <a:cs typeface="Muli"/>
                  <a:sym typeface="Muli"/>
                </a:rPr>
                <a:t>Penyalahgunaan citra dapat menim</a:t>
              </a:r>
              <a:r>
                <a:rPr lang="en-US" sz="2500">
                  <a:solidFill>
                    <a:srgbClr val="000000"/>
                  </a:solidFill>
                  <a:latin typeface="Muli"/>
                  <a:ea typeface="Muli"/>
                  <a:cs typeface="Muli"/>
                  <a:sym typeface="Muli"/>
                </a:rPr>
                <a:t>bulkan pelanggaran privasi dan risiko keamanan data.</a:t>
              </a:r>
            </a:p>
            <a:p>
              <a:pPr algn="just" marL="539751" indent="-269876" lvl="1">
                <a:lnSpc>
                  <a:spcPts val="3500"/>
                </a:lnSpc>
                <a:buFont typeface="Arial"/>
                <a:buChar char="•"/>
              </a:pPr>
              <a:r>
                <a:rPr lang="en-US" sz="2500">
                  <a:solidFill>
                    <a:srgbClr val="000000"/>
                  </a:solidFill>
                  <a:latin typeface="Muli"/>
                  <a:ea typeface="Muli"/>
                  <a:cs typeface="Muli"/>
                  <a:sym typeface="Muli"/>
                </a:rPr>
                <a:t>Keamanan citra diperlukan untuk menjaga keaslian dan kerahasiaan data visual.</a:t>
              </a:r>
            </a:p>
          </p:txBody>
        </p:sp>
      </p:grpSp>
      <p:sp>
        <p:nvSpPr>
          <p:cNvPr name="Freeform 5" id="5"/>
          <p:cNvSpPr/>
          <p:nvPr/>
        </p:nvSpPr>
        <p:spPr>
          <a:xfrm flipH="false" flipV="false" rot="-10800000">
            <a:off x="16213119" y="-70562"/>
            <a:ext cx="2058070" cy="2058070"/>
          </a:xfrm>
          <a:custGeom>
            <a:avLst/>
            <a:gdLst/>
            <a:ahLst/>
            <a:cxnLst/>
            <a:rect r="r" b="b" t="t" l="l"/>
            <a:pathLst>
              <a:path h="2058070" w="2058070">
                <a:moveTo>
                  <a:pt x="0" y="0"/>
                </a:moveTo>
                <a:lnTo>
                  <a:pt x="2058070" y="0"/>
                </a:lnTo>
                <a:lnTo>
                  <a:pt x="2058070" y="2058070"/>
                </a:lnTo>
                <a:lnTo>
                  <a:pt x="0" y="20580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rot="0">
            <a:off x="16213119" y="1987508"/>
            <a:ext cx="2071534" cy="2074870"/>
          </a:xfrm>
          <a:prstGeom prst="rect">
            <a:avLst/>
          </a:prstGeom>
          <a:solidFill>
            <a:srgbClr val="FFD527"/>
          </a:solidFill>
        </p:spPr>
      </p:sp>
      <p:sp>
        <p:nvSpPr>
          <p:cNvPr name="AutoShape 7" id="7"/>
          <p:cNvSpPr/>
          <p:nvPr/>
        </p:nvSpPr>
        <p:spPr>
          <a:xfrm rot="0">
            <a:off x="16213119" y="6138922"/>
            <a:ext cx="2071534" cy="2074870"/>
          </a:xfrm>
          <a:prstGeom prst="rect">
            <a:avLst/>
          </a:prstGeom>
          <a:solidFill>
            <a:srgbClr val="FFD527"/>
          </a:solidFill>
        </p:spPr>
      </p:sp>
      <p:grpSp>
        <p:nvGrpSpPr>
          <p:cNvPr name="Group 8" id="8"/>
          <p:cNvGrpSpPr/>
          <p:nvPr/>
        </p:nvGrpSpPr>
        <p:grpSpPr>
          <a:xfrm rot="-10800000">
            <a:off x="16213119" y="1987508"/>
            <a:ext cx="2074881" cy="2078206"/>
            <a:chOff x="0" y="0"/>
            <a:chExt cx="5663761" cy="5672837"/>
          </a:xfrm>
        </p:grpSpPr>
        <p:sp>
          <p:nvSpPr>
            <p:cNvPr name="Freeform 9" id="9"/>
            <p:cNvSpPr/>
            <p:nvPr/>
          </p:nvSpPr>
          <p:spPr>
            <a:xfrm flipH="false" flipV="false" rot="0">
              <a:off x="0" y="0"/>
              <a:ext cx="5663761" cy="5672837"/>
            </a:xfrm>
            <a:custGeom>
              <a:avLst/>
              <a:gdLst/>
              <a:ahLst/>
              <a:cxnLst/>
              <a:rect r="r" b="b" t="t" l="l"/>
              <a:pathLst>
                <a:path h="5672837" w="5663761">
                  <a:moveTo>
                    <a:pt x="2850943" y="0"/>
                  </a:moveTo>
                  <a:lnTo>
                    <a:pt x="2850943" y="0"/>
                  </a:lnTo>
                  <a:lnTo>
                    <a:pt x="2821940" y="0"/>
                  </a:lnTo>
                  <a:lnTo>
                    <a:pt x="0" y="0"/>
                  </a:lnTo>
                  <a:lnTo>
                    <a:pt x="2821940" y="2839615"/>
                  </a:lnTo>
                  <a:lnTo>
                    <a:pt x="0" y="5672837"/>
                  </a:lnTo>
                  <a:lnTo>
                    <a:pt x="2821940" y="5672837"/>
                  </a:lnTo>
                  <a:lnTo>
                    <a:pt x="2850943" y="5672837"/>
                  </a:lnTo>
                  <a:lnTo>
                    <a:pt x="2850943" y="5672837"/>
                  </a:lnTo>
                  <a:lnTo>
                    <a:pt x="5663761" y="2839615"/>
                  </a:lnTo>
                  <a:close/>
                </a:path>
              </a:pathLst>
            </a:custGeom>
            <a:solidFill>
              <a:srgbClr val="FFFFFF"/>
            </a:solidFill>
          </p:spPr>
        </p:sp>
      </p:grpSp>
      <p:sp>
        <p:nvSpPr>
          <p:cNvPr name="Freeform 10" id="10"/>
          <p:cNvSpPr/>
          <p:nvPr/>
        </p:nvSpPr>
        <p:spPr>
          <a:xfrm flipH="true" flipV="false" rot="-10800000">
            <a:off x="16213119" y="4065715"/>
            <a:ext cx="2071534" cy="2071534"/>
          </a:xfrm>
          <a:custGeom>
            <a:avLst/>
            <a:gdLst/>
            <a:ahLst/>
            <a:cxnLst/>
            <a:rect r="r" b="b" t="t" l="l"/>
            <a:pathLst>
              <a:path h="2071534" w="2071534">
                <a:moveTo>
                  <a:pt x="2071534" y="0"/>
                </a:moveTo>
                <a:lnTo>
                  <a:pt x="0" y="0"/>
                </a:lnTo>
                <a:lnTo>
                  <a:pt x="0" y="2071534"/>
                </a:lnTo>
                <a:lnTo>
                  <a:pt x="2071534" y="2071534"/>
                </a:lnTo>
                <a:lnTo>
                  <a:pt x="207153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7250560" y="8212119"/>
            <a:ext cx="1037440" cy="2074881"/>
          </a:xfrm>
          <a:custGeom>
            <a:avLst/>
            <a:gdLst/>
            <a:ahLst/>
            <a:cxnLst/>
            <a:rect r="r" b="b" t="t" l="l"/>
            <a:pathLst>
              <a:path h="2074881" w="1037440">
                <a:moveTo>
                  <a:pt x="0" y="0"/>
                </a:moveTo>
                <a:lnTo>
                  <a:pt x="1037440" y="0"/>
                </a:lnTo>
                <a:lnTo>
                  <a:pt x="1037440" y="2074881"/>
                </a:lnTo>
                <a:lnTo>
                  <a:pt x="0" y="20748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10800000">
            <a:off x="16213119" y="8212119"/>
            <a:ext cx="1037440" cy="2074881"/>
          </a:xfrm>
          <a:custGeom>
            <a:avLst/>
            <a:gdLst/>
            <a:ahLst/>
            <a:cxnLst/>
            <a:rect r="r" b="b" t="t" l="l"/>
            <a:pathLst>
              <a:path h="2074881" w="1037440">
                <a:moveTo>
                  <a:pt x="0" y="0"/>
                </a:moveTo>
                <a:lnTo>
                  <a:pt x="1037441" y="0"/>
                </a:lnTo>
                <a:lnTo>
                  <a:pt x="1037441" y="2074881"/>
                </a:lnTo>
                <a:lnTo>
                  <a:pt x="0" y="20748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89342" y="2158078"/>
            <a:ext cx="12678545" cy="2549833"/>
            <a:chOff x="0" y="0"/>
            <a:chExt cx="16904726" cy="3399778"/>
          </a:xfrm>
        </p:grpSpPr>
        <p:sp>
          <p:nvSpPr>
            <p:cNvPr name="TextBox 3" id="3"/>
            <p:cNvSpPr txBox="true"/>
            <p:nvPr/>
          </p:nvSpPr>
          <p:spPr>
            <a:xfrm rot="0">
              <a:off x="0" y="-123825"/>
              <a:ext cx="16904726" cy="27654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Ancaman terhadap Keamanan Citra</a:t>
              </a:r>
            </a:p>
          </p:txBody>
        </p:sp>
        <p:sp>
          <p:nvSpPr>
            <p:cNvPr name="TextBox 4" id="4"/>
            <p:cNvSpPr txBox="true"/>
            <p:nvPr/>
          </p:nvSpPr>
          <p:spPr>
            <a:xfrm rot="0">
              <a:off x="0" y="2852620"/>
              <a:ext cx="16904726" cy="547158"/>
            </a:xfrm>
            <a:prstGeom prst="rect">
              <a:avLst/>
            </a:prstGeom>
          </p:spPr>
          <p:txBody>
            <a:bodyPr anchor="t" rtlCol="false" tIns="0" lIns="0" bIns="0" rIns="0">
              <a:spAutoFit/>
            </a:bodyPr>
            <a:lstStyle/>
            <a:p>
              <a:pPr algn="l" marL="0" indent="0" lvl="0">
                <a:lnSpc>
                  <a:spcPts val="3500"/>
                </a:lnSpc>
                <a:spcBef>
                  <a:spcPct val="0"/>
                </a:spcBef>
              </a:pPr>
            </a:p>
          </p:txBody>
        </p:sp>
      </p:grpSp>
      <p:sp>
        <p:nvSpPr>
          <p:cNvPr name="TextBox 5" id="5"/>
          <p:cNvSpPr txBox="true"/>
          <p:nvPr/>
        </p:nvSpPr>
        <p:spPr>
          <a:xfrm rot="0">
            <a:off x="3489342" y="4607426"/>
            <a:ext cx="12678545" cy="2603500"/>
          </a:xfrm>
          <a:prstGeom prst="rect">
            <a:avLst/>
          </a:prstGeom>
        </p:spPr>
        <p:txBody>
          <a:bodyPr anchor="t" rtlCol="false" tIns="0" lIns="0" bIns="0" rIns="0">
            <a:spAutoFit/>
          </a:bodyPr>
          <a:lstStyle/>
          <a:p>
            <a:pPr algn="just" marL="539749" indent="-269875" lvl="1">
              <a:lnSpc>
                <a:spcPts val="3499"/>
              </a:lnSpc>
              <a:buFont typeface="Arial"/>
              <a:buChar char="•"/>
            </a:pPr>
            <a:r>
              <a:rPr lang="en-US" b="true" sz="2499">
                <a:solidFill>
                  <a:srgbClr val="000000"/>
                </a:solidFill>
                <a:latin typeface="Muli Bold"/>
                <a:ea typeface="Muli Bold"/>
                <a:cs typeface="Muli Bold"/>
                <a:sym typeface="Muli Bold"/>
              </a:rPr>
              <a:t>Akses </a:t>
            </a:r>
            <a:r>
              <a:rPr lang="en-US" b="true" sz="2499">
                <a:solidFill>
                  <a:srgbClr val="000000"/>
                </a:solidFill>
                <a:latin typeface="Muli Bold"/>
                <a:ea typeface="Muli Bold"/>
                <a:cs typeface="Muli Bold"/>
                <a:sym typeface="Muli Bold"/>
              </a:rPr>
              <a:t>Tidak Sah</a:t>
            </a:r>
            <a:r>
              <a:rPr lang="en-US" sz="2499">
                <a:solidFill>
                  <a:srgbClr val="000000"/>
                </a:solidFill>
                <a:latin typeface="Muli"/>
                <a:ea typeface="Muli"/>
                <a:cs typeface="Muli"/>
                <a:sym typeface="Muli"/>
              </a:rPr>
              <a:t>: Pihak yang tidak berwenang dapat membuka atau menyebarkan citra.</a:t>
            </a:r>
          </a:p>
          <a:p>
            <a:pPr algn="just" marL="539749" indent="-269875" lvl="1">
              <a:lnSpc>
                <a:spcPts val="3499"/>
              </a:lnSpc>
              <a:buFont typeface="Arial"/>
              <a:buChar char="•"/>
            </a:pPr>
            <a:r>
              <a:rPr lang="en-US" b="true" sz="2499">
                <a:solidFill>
                  <a:srgbClr val="000000"/>
                </a:solidFill>
                <a:latin typeface="Muli Bold"/>
                <a:ea typeface="Muli Bold"/>
                <a:cs typeface="Muli Bold"/>
                <a:sym typeface="Muli Bold"/>
              </a:rPr>
              <a:t>P</a:t>
            </a:r>
            <a:r>
              <a:rPr lang="en-US" b="true" sz="2499">
                <a:solidFill>
                  <a:srgbClr val="000000"/>
                </a:solidFill>
                <a:latin typeface="Muli Bold"/>
                <a:ea typeface="Muli Bold"/>
                <a:cs typeface="Muli Bold"/>
                <a:sym typeface="Muli Bold"/>
              </a:rPr>
              <a:t>enyadapan Data</a:t>
            </a:r>
            <a:r>
              <a:rPr lang="en-US" sz="2499">
                <a:solidFill>
                  <a:srgbClr val="000000"/>
                </a:solidFill>
                <a:latin typeface="Muli"/>
                <a:ea typeface="Muli"/>
                <a:cs typeface="Muli"/>
                <a:sym typeface="Muli"/>
              </a:rPr>
              <a:t>: Informasi dapat dicuri saat pengiriman citra melalui jaringan.</a:t>
            </a:r>
          </a:p>
          <a:p>
            <a:pPr algn="just" marL="539749" indent="-269875" lvl="1">
              <a:lnSpc>
                <a:spcPts val="3499"/>
              </a:lnSpc>
              <a:buFont typeface="Arial"/>
              <a:buChar char="•"/>
            </a:pPr>
            <a:r>
              <a:rPr lang="en-US" b="true" sz="2499">
                <a:solidFill>
                  <a:srgbClr val="000000"/>
                </a:solidFill>
                <a:latin typeface="Muli Bold"/>
                <a:ea typeface="Muli Bold"/>
                <a:cs typeface="Muli Bold"/>
                <a:sym typeface="Muli Bold"/>
              </a:rPr>
              <a:t>Manipulasi Citra</a:t>
            </a:r>
            <a:r>
              <a:rPr lang="en-US" sz="2499">
                <a:solidFill>
                  <a:srgbClr val="000000"/>
                </a:solidFill>
                <a:latin typeface="Muli"/>
                <a:ea typeface="Muli"/>
                <a:cs typeface="Muli"/>
                <a:sym typeface="Muli"/>
              </a:rPr>
              <a:t>: Mengubah isi citra untuk menyesatkan pengguna atau sistem.</a:t>
            </a:r>
          </a:p>
          <a:p>
            <a:pPr algn="just" marL="539749" indent="-269875" lvl="1">
              <a:lnSpc>
                <a:spcPts val="3499"/>
              </a:lnSpc>
              <a:buFont typeface="Arial"/>
              <a:buChar char="•"/>
            </a:pPr>
            <a:r>
              <a:rPr lang="en-US" b="true" sz="2499">
                <a:solidFill>
                  <a:srgbClr val="000000"/>
                </a:solidFill>
                <a:latin typeface="Muli Bold"/>
                <a:ea typeface="Muli Bold"/>
                <a:cs typeface="Muli Bold"/>
                <a:sym typeface="Muli Bold"/>
              </a:rPr>
              <a:t>Penyalahgunaan Data</a:t>
            </a:r>
            <a:r>
              <a:rPr lang="en-US" sz="2499">
                <a:solidFill>
                  <a:srgbClr val="000000"/>
                </a:solidFill>
                <a:latin typeface="Muli"/>
                <a:ea typeface="Muli"/>
                <a:cs typeface="Muli"/>
                <a:sym typeface="Muli"/>
              </a:rPr>
              <a:t>: Citra digunakan untuk tujuan yang merugikan, seperti penyebaran informasi palsu.</a:t>
            </a:r>
          </a:p>
        </p:txBody>
      </p:sp>
      <p:sp>
        <p:nvSpPr>
          <p:cNvPr name="Freeform 6" id="6"/>
          <p:cNvSpPr/>
          <p:nvPr/>
        </p:nvSpPr>
        <p:spPr>
          <a:xfrm flipH="false" flipV="false" rot="-10800000">
            <a:off x="1030373" y="-16696"/>
            <a:ext cx="1030373" cy="2060746"/>
          </a:xfrm>
          <a:custGeom>
            <a:avLst/>
            <a:gdLst/>
            <a:ahLst/>
            <a:cxnLst/>
            <a:rect r="r" b="b" t="t" l="l"/>
            <a:pathLst>
              <a:path h="2060746" w="1030373">
                <a:moveTo>
                  <a:pt x="0" y="0"/>
                </a:moveTo>
                <a:lnTo>
                  <a:pt x="1030373" y="0"/>
                </a:lnTo>
                <a:lnTo>
                  <a:pt x="1030373" y="2060746"/>
                </a:lnTo>
                <a:lnTo>
                  <a:pt x="0" y="20607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0" y="-16696"/>
            <a:ext cx="1030373" cy="2060746"/>
          </a:xfrm>
          <a:custGeom>
            <a:avLst/>
            <a:gdLst/>
            <a:ahLst/>
            <a:cxnLst/>
            <a:rect r="r" b="b" t="t" l="l"/>
            <a:pathLst>
              <a:path h="2060746" w="1030373">
                <a:moveTo>
                  <a:pt x="0" y="0"/>
                </a:moveTo>
                <a:lnTo>
                  <a:pt x="1030373" y="0"/>
                </a:lnTo>
                <a:lnTo>
                  <a:pt x="1030373" y="2060746"/>
                </a:lnTo>
                <a:lnTo>
                  <a:pt x="0" y="20607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false" rot="-10800000">
            <a:off x="0" y="8242950"/>
            <a:ext cx="2044050" cy="2044050"/>
          </a:xfrm>
          <a:custGeom>
            <a:avLst/>
            <a:gdLst/>
            <a:ahLst/>
            <a:cxnLst/>
            <a:rect r="r" b="b" t="t" l="l"/>
            <a:pathLst>
              <a:path h="2044050" w="2044050">
                <a:moveTo>
                  <a:pt x="2044050" y="0"/>
                </a:moveTo>
                <a:lnTo>
                  <a:pt x="0" y="0"/>
                </a:lnTo>
                <a:lnTo>
                  <a:pt x="0" y="2044050"/>
                </a:lnTo>
                <a:lnTo>
                  <a:pt x="2044050" y="2044050"/>
                </a:lnTo>
                <a:lnTo>
                  <a:pt x="204405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9" id="9"/>
          <p:cNvSpPr/>
          <p:nvPr/>
        </p:nvSpPr>
        <p:spPr>
          <a:xfrm rot="0">
            <a:off x="0" y="2044050"/>
            <a:ext cx="2057422" cy="2060735"/>
          </a:xfrm>
          <a:prstGeom prst="rect">
            <a:avLst/>
          </a:prstGeom>
          <a:solidFill>
            <a:srgbClr val="006BCB"/>
          </a:solidFill>
        </p:spPr>
      </p:sp>
      <p:sp>
        <p:nvSpPr>
          <p:cNvPr name="AutoShape 10" id="10"/>
          <p:cNvSpPr/>
          <p:nvPr/>
        </p:nvSpPr>
        <p:spPr>
          <a:xfrm rot="0">
            <a:off x="0" y="6167181"/>
            <a:ext cx="2057422" cy="2060735"/>
          </a:xfrm>
          <a:prstGeom prst="rect">
            <a:avLst/>
          </a:prstGeom>
          <a:solidFill>
            <a:srgbClr val="006BCB"/>
          </a:solidFill>
        </p:spPr>
      </p:sp>
      <p:grpSp>
        <p:nvGrpSpPr>
          <p:cNvPr name="Group 11" id="11"/>
          <p:cNvGrpSpPr/>
          <p:nvPr/>
        </p:nvGrpSpPr>
        <p:grpSpPr>
          <a:xfrm rot="-10800000">
            <a:off x="0" y="6178902"/>
            <a:ext cx="2060746" cy="2064048"/>
            <a:chOff x="0" y="0"/>
            <a:chExt cx="5663761" cy="5672837"/>
          </a:xfrm>
        </p:grpSpPr>
        <p:sp>
          <p:nvSpPr>
            <p:cNvPr name="Freeform 12" id="12"/>
            <p:cNvSpPr/>
            <p:nvPr/>
          </p:nvSpPr>
          <p:spPr>
            <a:xfrm flipH="false" flipV="false" rot="0">
              <a:off x="0" y="0"/>
              <a:ext cx="5663761" cy="5672837"/>
            </a:xfrm>
            <a:custGeom>
              <a:avLst/>
              <a:gdLst/>
              <a:ahLst/>
              <a:cxnLst/>
              <a:rect r="r" b="b" t="t" l="l"/>
              <a:pathLst>
                <a:path h="5672837" w="5663761">
                  <a:moveTo>
                    <a:pt x="2850943" y="0"/>
                  </a:moveTo>
                  <a:lnTo>
                    <a:pt x="2850943" y="0"/>
                  </a:lnTo>
                  <a:lnTo>
                    <a:pt x="2821940" y="0"/>
                  </a:lnTo>
                  <a:lnTo>
                    <a:pt x="0" y="0"/>
                  </a:lnTo>
                  <a:lnTo>
                    <a:pt x="2821940" y="2839615"/>
                  </a:lnTo>
                  <a:lnTo>
                    <a:pt x="0" y="5672837"/>
                  </a:lnTo>
                  <a:lnTo>
                    <a:pt x="2821940" y="5672837"/>
                  </a:lnTo>
                  <a:lnTo>
                    <a:pt x="2850943" y="5672837"/>
                  </a:lnTo>
                  <a:lnTo>
                    <a:pt x="2850943" y="5672837"/>
                  </a:lnTo>
                  <a:lnTo>
                    <a:pt x="5663761" y="2839615"/>
                  </a:lnTo>
                  <a:close/>
                </a:path>
              </a:pathLst>
            </a:custGeom>
            <a:solidFill>
              <a:srgbClr val="FFFFFF"/>
            </a:solidFill>
          </p:spPr>
        </p:sp>
      </p:grpSp>
      <p:sp>
        <p:nvSpPr>
          <p:cNvPr name="Freeform 13" id="13"/>
          <p:cNvSpPr/>
          <p:nvPr/>
        </p:nvSpPr>
        <p:spPr>
          <a:xfrm flipH="true" flipV="false" rot="-10800000">
            <a:off x="0" y="4108098"/>
            <a:ext cx="2057422" cy="2057422"/>
          </a:xfrm>
          <a:custGeom>
            <a:avLst/>
            <a:gdLst/>
            <a:ahLst/>
            <a:cxnLst/>
            <a:rect r="r" b="b" t="t" l="l"/>
            <a:pathLst>
              <a:path h="2057422" w="2057422">
                <a:moveTo>
                  <a:pt x="2057422" y="0"/>
                </a:moveTo>
                <a:lnTo>
                  <a:pt x="0" y="0"/>
                </a:lnTo>
                <a:lnTo>
                  <a:pt x="0" y="2057421"/>
                </a:lnTo>
                <a:lnTo>
                  <a:pt x="2057422" y="2057421"/>
                </a:lnTo>
                <a:lnTo>
                  <a:pt x="205742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69343" y="2482729"/>
            <a:ext cx="11819797" cy="4957351"/>
            <a:chOff x="0" y="0"/>
            <a:chExt cx="15759729" cy="6609801"/>
          </a:xfrm>
        </p:grpSpPr>
        <p:sp>
          <p:nvSpPr>
            <p:cNvPr name="TextBox 3" id="3"/>
            <p:cNvSpPr txBox="true"/>
            <p:nvPr/>
          </p:nvSpPr>
          <p:spPr>
            <a:xfrm rot="0">
              <a:off x="0" y="-123825"/>
              <a:ext cx="15759729" cy="13430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Potensi Risiko</a:t>
              </a:r>
            </a:p>
          </p:txBody>
        </p:sp>
        <p:sp>
          <p:nvSpPr>
            <p:cNvPr name="TextBox 4" id="4"/>
            <p:cNvSpPr txBox="true"/>
            <p:nvPr/>
          </p:nvSpPr>
          <p:spPr>
            <a:xfrm rot="0">
              <a:off x="0" y="1973243"/>
              <a:ext cx="12758391" cy="4636558"/>
            </a:xfrm>
            <a:prstGeom prst="rect">
              <a:avLst/>
            </a:prstGeom>
          </p:spPr>
          <p:txBody>
            <a:bodyPr anchor="t" rtlCol="false" tIns="0" lIns="0" bIns="0" rIns="0">
              <a:spAutoFit/>
            </a:bodyPr>
            <a:lstStyle/>
            <a:p>
              <a:pPr algn="just" marL="539751" indent="-269876" lvl="1">
                <a:lnSpc>
                  <a:spcPts val="3500"/>
                </a:lnSpc>
                <a:buFont typeface="Arial"/>
                <a:buChar char="•"/>
              </a:pPr>
              <a:r>
                <a:rPr lang="en-US" b="true" sz="2500">
                  <a:solidFill>
                    <a:srgbClr val="000000"/>
                  </a:solidFill>
                  <a:latin typeface="Muli Bold"/>
                  <a:ea typeface="Muli Bold"/>
                  <a:cs typeface="Muli Bold"/>
                  <a:sym typeface="Muli Bold"/>
                </a:rPr>
                <a:t>Kebocor</a:t>
              </a:r>
              <a:r>
                <a:rPr lang="en-US" b="true" sz="2500">
                  <a:solidFill>
                    <a:srgbClr val="000000"/>
                  </a:solidFill>
                  <a:latin typeface="Muli Bold"/>
                  <a:ea typeface="Muli Bold"/>
                  <a:cs typeface="Muli Bold"/>
                  <a:sym typeface="Muli Bold"/>
                </a:rPr>
                <a:t>an Informasi</a:t>
              </a:r>
              <a:r>
                <a:rPr lang="en-US" sz="2500">
                  <a:solidFill>
                    <a:srgbClr val="000000"/>
                  </a:solidFill>
                  <a:latin typeface="Muli"/>
                  <a:ea typeface="Muli"/>
                  <a:cs typeface="Muli"/>
                  <a:sym typeface="Muli"/>
                </a:rPr>
                <a:t>: Visual sensitif terekspos ke pihak tidak berwenang.</a:t>
              </a:r>
            </a:p>
            <a:p>
              <a:pPr algn="just" marL="539751" indent="-269876" lvl="1">
                <a:lnSpc>
                  <a:spcPts val="3500"/>
                </a:lnSpc>
                <a:buFont typeface="Arial"/>
                <a:buChar char="•"/>
              </a:pPr>
              <a:r>
                <a:rPr lang="en-US" b="true" sz="2500">
                  <a:solidFill>
                    <a:srgbClr val="000000"/>
                  </a:solidFill>
                  <a:latin typeface="Muli Bold"/>
                  <a:ea typeface="Muli Bold"/>
                  <a:cs typeface="Muli Bold"/>
                  <a:sym typeface="Muli Bold"/>
                </a:rPr>
                <a:t>P</a:t>
              </a:r>
              <a:r>
                <a:rPr lang="en-US" b="true" sz="2500">
                  <a:solidFill>
                    <a:srgbClr val="000000"/>
                  </a:solidFill>
                  <a:latin typeface="Muli Bold"/>
                  <a:ea typeface="Muli Bold"/>
                  <a:cs typeface="Muli Bold"/>
                  <a:sym typeface="Muli Bold"/>
                </a:rPr>
                <a:t>erubahan Isi Citra</a:t>
              </a:r>
              <a:r>
                <a:rPr lang="en-US" sz="2500">
                  <a:solidFill>
                    <a:srgbClr val="000000"/>
                  </a:solidFill>
                  <a:latin typeface="Muli"/>
                  <a:ea typeface="Muli"/>
                  <a:cs typeface="Muli"/>
                  <a:sym typeface="Muli"/>
                </a:rPr>
                <a:t>: Data dimanipulasi tanpa sepengetahuan pemi</a:t>
              </a:r>
              <a:r>
                <a:rPr lang="en-US" sz="2500">
                  <a:solidFill>
                    <a:srgbClr val="000000"/>
                  </a:solidFill>
                  <a:latin typeface="Muli"/>
                  <a:ea typeface="Muli"/>
                  <a:cs typeface="Muli"/>
                  <a:sym typeface="Muli"/>
                </a:rPr>
                <a:t>lik.</a:t>
              </a:r>
            </a:p>
            <a:p>
              <a:pPr algn="just" marL="539751" indent="-269876" lvl="1">
                <a:lnSpc>
                  <a:spcPts val="3500"/>
                </a:lnSpc>
                <a:buFont typeface="Arial"/>
                <a:buChar char="•"/>
              </a:pPr>
              <a:r>
                <a:rPr lang="en-US" b="true" sz="2500">
                  <a:solidFill>
                    <a:srgbClr val="000000"/>
                  </a:solidFill>
                  <a:latin typeface="Muli Bold"/>
                  <a:ea typeface="Muli Bold"/>
                  <a:cs typeface="Muli Bold"/>
                  <a:sym typeface="Muli Bold"/>
                </a:rPr>
                <a:t>Hilangnya Kepercayaan</a:t>
              </a:r>
              <a:r>
                <a:rPr lang="en-US" sz="2500">
                  <a:solidFill>
                    <a:srgbClr val="000000"/>
                  </a:solidFill>
                  <a:latin typeface="Muli"/>
                  <a:ea typeface="Muli"/>
                  <a:cs typeface="Muli"/>
                  <a:sym typeface="Muli"/>
                </a:rPr>
                <a:t>: Citrasistem dianggap tidak dapat diandalkan.</a:t>
              </a:r>
            </a:p>
            <a:p>
              <a:pPr algn="just" marL="539751" indent="-269876" lvl="1">
                <a:lnSpc>
                  <a:spcPts val="3500"/>
                </a:lnSpc>
                <a:buFont typeface="Arial"/>
                <a:buChar char="•"/>
              </a:pPr>
              <a:r>
                <a:rPr lang="en-US" b="true" sz="2500">
                  <a:solidFill>
                    <a:srgbClr val="000000"/>
                  </a:solidFill>
                  <a:latin typeface="Muli Bold"/>
                  <a:ea typeface="Muli Bold"/>
                  <a:cs typeface="Muli Bold"/>
                  <a:sym typeface="Muli Bold"/>
                </a:rPr>
                <a:t>Kesalahan Pengambilan Keputusan</a:t>
              </a:r>
              <a:r>
                <a:rPr lang="en-US" sz="2500">
                  <a:solidFill>
                    <a:srgbClr val="000000"/>
                  </a:solidFill>
                  <a:latin typeface="Muli"/>
                  <a:ea typeface="Muli"/>
                  <a:cs typeface="Muli"/>
                  <a:sym typeface="Muli"/>
                </a:rPr>
                <a:t>: Citra yang dimanipulasi dapat memengaruhi keputusan penting.</a:t>
              </a:r>
            </a:p>
          </p:txBody>
        </p:sp>
      </p:grpSp>
      <p:sp>
        <p:nvSpPr>
          <p:cNvPr name="Freeform 5" id="5"/>
          <p:cNvSpPr/>
          <p:nvPr/>
        </p:nvSpPr>
        <p:spPr>
          <a:xfrm flipH="false" flipV="false" rot="-10800000">
            <a:off x="16213119" y="-70562"/>
            <a:ext cx="2058070" cy="2058070"/>
          </a:xfrm>
          <a:custGeom>
            <a:avLst/>
            <a:gdLst/>
            <a:ahLst/>
            <a:cxnLst/>
            <a:rect r="r" b="b" t="t" l="l"/>
            <a:pathLst>
              <a:path h="2058070" w="2058070">
                <a:moveTo>
                  <a:pt x="0" y="0"/>
                </a:moveTo>
                <a:lnTo>
                  <a:pt x="2058070" y="0"/>
                </a:lnTo>
                <a:lnTo>
                  <a:pt x="2058070" y="2058070"/>
                </a:lnTo>
                <a:lnTo>
                  <a:pt x="0" y="20580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rot="0">
            <a:off x="16213119" y="1987508"/>
            <a:ext cx="2071534" cy="2074870"/>
          </a:xfrm>
          <a:prstGeom prst="rect">
            <a:avLst/>
          </a:prstGeom>
          <a:solidFill>
            <a:srgbClr val="FFD527"/>
          </a:solidFill>
        </p:spPr>
      </p:sp>
      <p:sp>
        <p:nvSpPr>
          <p:cNvPr name="AutoShape 7" id="7"/>
          <p:cNvSpPr/>
          <p:nvPr/>
        </p:nvSpPr>
        <p:spPr>
          <a:xfrm rot="0">
            <a:off x="16213119" y="6138922"/>
            <a:ext cx="2071534" cy="2074870"/>
          </a:xfrm>
          <a:prstGeom prst="rect">
            <a:avLst/>
          </a:prstGeom>
          <a:solidFill>
            <a:srgbClr val="FFD527"/>
          </a:solidFill>
        </p:spPr>
      </p:sp>
      <p:grpSp>
        <p:nvGrpSpPr>
          <p:cNvPr name="Group 8" id="8"/>
          <p:cNvGrpSpPr/>
          <p:nvPr/>
        </p:nvGrpSpPr>
        <p:grpSpPr>
          <a:xfrm rot="-10800000">
            <a:off x="16213119" y="1987508"/>
            <a:ext cx="2074881" cy="2078206"/>
            <a:chOff x="0" y="0"/>
            <a:chExt cx="5663761" cy="5672837"/>
          </a:xfrm>
        </p:grpSpPr>
        <p:sp>
          <p:nvSpPr>
            <p:cNvPr name="Freeform 9" id="9"/>
            <p:cNvSpPr/>
            <p:nvPr/>
          </p:nvSpPr>
          <p:spPr>
            <a:xfrm flipH="false" flipV="false" rot="0">
              <a:off x="0" y="0"/>
              <a:ext cx="5663761" cy="5672837"/>
            </a:xfrm>
            <a:custGeom>
              <a:avLst/>
              <a:gdLst/>
              <a:ahLst/>
              <a:cxnLst/>
              <a:rect r="r" b="b" t="t" l="l"/>
              <a:pathLst>
                <a:path h="5672837" w="5663761">
                  <a:moveTo>
                    <a:pt x="2850943" y="0"/>
                  </a:moveTo>
                  <a:lnTo>
                    <a:pt x="2850943" y="0"/>
                  </a:lnTo>
                  <a:lnTo>
                    <a:pt x="2821940" y="0"/>
                  </a:lnTo>
                  <a:lnTo>
                    <a:pt x="0" y="0"/>
                  </a:lnTo>
                  <a:lnTo>
                    <a:pt x="2821940" y="2839615"/>
                  </a:lnTo>
                  <a:lnTo>
                    <a:pt x="0" y="5672837"/>
                  </a:lnTo>
                  <a:lnTo>
                    <a:pt x="2821940" y="5672837"/>
                  </a:lnTo>
                  <a:lnTo>
                    <a:pt x="2850943" y="5672837"/>
                  </a:lnTo>
                  <a:lnTo>
                    <a:pt x="2850943" y="5672837"/>
                  </a:lnTo>
                  <a:lnTo>
                    <a:pt x="5663761" y="2839615"/>
                  </a:lnTo>
                  <a:close/>
                </a:path>
              </a:pathLst>
            </a:custGeom>
            <a:solidFill>
              <a:srgbClr val="FFFFFF"/>
            </a:solidFill>
          </p:spPr>
        </p:sp>
      </p:grpSp>
      <p:sp>
        <p:nvSpPr>
          <p:cNvPr name="Freeform 10" id="10"/>
          <p:cNvSpPr/>
          <p:nvPr/>
        </p:nvSpPr>
        <p:spPr>
          <a:xfrm flipH="true" flipV="false" rot="-10800000">
            <a:off x="16213119" y="4065715"/>
            <a:ext cx="2071534" cy="2071534"/>
          </a:xfrm>
          <a:custGeom>
            <a:avLst/>
            <a:gdLst/>
            <a:ahLst/>
            <a:cxnLst/>
            <a:rect r="r" b="b" t="t" l="l"/>
            <a:pathLst>
              <a:path h="2071534" w="2071534">
                <a:moveTo>
                  <a:pt x="2071534" y="0"/>
                </a:moveTo>
                <a:lnTo>
                  <a:pt x="0" y="0"/>
                </a:lnTo>
                <a:lnTo>
                  <a:pt x="0" y="2071534"/>
                </a:lnTo>
                <a:lnTo>
                  <a:pt x="2071534" y="2071534"/>
                </a:lnTo>
                <a:lnTo>
                  <a:pt x="207153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7250560" y="8212119"/>
            <a:ext cx="1037440" cy="2074881"/>
          </a:xfrm>
          <a:custGeom>
            <a:avLst/>
            <a:gdLst/>
            <a:ahLst/>
            <a:cxnLst/>
            <a:rect r="r" b="b" t="t" l="l"/>
            <a:pathLst>
              <a:path h="2074881" w="1037440">
                <a:moveTo>
                  <a:pt x="0" y="0"/>
                </a:moveTo>
                <a:lnTo>
                  <a:pt x="1037440" y="0"/>
                </a:lnTo>
                <a:lnTo>
                  <a:pt x="1037440" y="2074881"/>
                </a:lnTo>
                <a:lnTo>
                  <a:pt x="0" y="20748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10800000">
            <a:off x="16213119" y="8212119"/>
            <a:ext cx="1037440" cy="2074881"/>
          </a:xfrm>
          <a:custGeom>
            <a:avLst/>
            <a:gdLst/>
            <a:ahLst/>
            <a:cxnLst/>
            <a:rect r="r" b="b" t="t" l="l"/>
            <a:pathLst>
              <a:path h="2074881" w="1037440">
                <a:moveTo>
                  <a:pt x="0" y="0"/>
                </a:moveTo>
                <a:lnTo>
                  <a:pt x="1037441" y="0"/>
                </a:lnTo>
                <a:lnTo>
                  <a:pt x="1037441" y="2074881"/>
                </a:lnTo>
                <a:lnTo>
                  <a:pt x="0" y="20748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89342" y="2158078"/>
            <a:ext cx="12678545" cy="2549833"/>
            <a:chOff x="0" y="0"/>
            <a:chExt cx="16904726" cy="3399778"/>
          </a:xfrm>
        </p:grpSpPr>
        <p:sp>
          <p:nvSpPr>
            <p:cNvPr name="TextBox 3" id="3"/>
            <p:cNvSpPr txBox="true"/>
            <p:nvPr/>
          </p:nvSpPr>
          <p:spPr>
            <a:xfrm rot="0">
              <a:off x="0" y="-123825"/>
              <a:ext cx="16904726" cy="27654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Dampak Kebocoran atau Manipulasi Citra</a:t>
              </a:r>
            </a:p>
          </p:txBody>
        </p:sp>
        <p:sp>
          <p:nvSpPr>
            <p:cNvPr name="TextBox 4" id="4"/>
            <p:cNvSpPr txBox="true"/>
            <p:nvPr/>
          </p:nvSpPr>
          <p:spPr>
            <a:xfrm rot="0">
              <a:off x="0" y="2852620"/>
              <a:ext cx="16904726" cy="547158"/>
            </a:xfrm>
            <a:prstGeom prst="rect">
              <a:avLst/>
            </a:prstGeom>
          </p:spPr>
          <p:txBody>
            <a:bodyPr anchor="t" rtlCol="false" tIns="0" lIns="0" bIns="0" rIns="0">
              <a:spAutoFit/>
            </a:bodyPr>
            <a:lstStyle/>
            <a:p>
              <a:pPr algn="l" marL="0" indent="0" lvl="0">
                <a:lnSpc>
                  <a:spcPts val="3500"/>
                </a:lnSpc>
                <a:spcBef>
                  <a:spcPct val="0"/>
                </a:spcBef>
              </a:pPr>
            </a:p>
          </p:txBody>
        </p:sp>
      </p:grpSp>
      <p:sp>
        <p:nvSpPr>
          <p:cNvPr name="TextBox 5" id="5"/>
          <p:cNvSpPr txBox="true"/>
          <p:nvPr/>
        </p:nvSpPr>
        <p:spPr>
          <a:xfrm rot="0">
            <a:off x="3489342" y="4607426"/>
            <a:ext cx="12678545" cy="1727200"/>
          </a:xfrm>
          <a:prstGeom prst="rect">
            <a:avLst/>
          </a:prstGeom>
        </p:spPr>
        <p:txBody>
          <a:bodyPr anchor="t" rtlCol="false" tIns="0" lIns="0" bIns="0" rIns="0">
            <a:spAutoFit/>
          </a:bodyPr>
          <a:lstStyle/>
          <a:p>
            <a:pPr algn="just" marL="539749" indent="-269875" lvl="1">
              <a:lnSpc>
                <a:spcPts val="3499"/>
              </a:lnSpc>
              <a:buFont typeface="Arial"/>
              <a:buChar char="•"/>
            </a:pPr>
            <a:r>
              <a:rPr lang="en-US" b="true" sz="2499">
                <a:solidFill>
                  <a:srgbClr val="000000"/>
                </a:solidFill>
                <a:latin typeface="Muli Bold"/>
                <a:ea typeface="Muli Bold"/>
                <a:cs typeface="Muli Bold"/>
                <a:sym typeface="Muli Bold"/>
              </a:rPr>
              <a:t>Kerug</a:t>
            </a:r>
            <a:r>
              <a:rPr lang="en-US" b="true" sz="2499">
                <a:solidFill>
                  <a:srgbClr val="000000"/>
                </a:solidFill>
                <a:latin typeface="Muli Bold"/>
                <a:ea typeface="Muli Bold"/>
                <a:cs typeface="Muli Bold"/>
                <a:sym typeface="Muli Bold"/>
              </a:rPr>
              <a:t>ian terkait privasi dan keamanan data.</a:t>
            </a:r>
          </a:p>
          <a:p>
            <a:pPr algn="just" marL="539749" indent="-269875" lvl="1">
              <a:lnSpc>
                <a:spcPts val="3499"/>
              </a:lnSpc>
              <a:buFont typeface="Arial"/>
              <a:buChar char="•"/>
            </a:pPr>
            <a:r>
              <a:rPr lang="en-US" b="true" sz="2499">
                <a:solidFill>
                  <a:srgbClr val="000000"/>
                </a:solidFill>
                <a:latin typeface="Muli Bold"/>
                <a:ea typeface="Muli Bold"/>
                <a:cs typeface="Muli Bold"/>
                <a:sym typeface="Muli Bold"/>
              </a:rPr>
              <a:t>Informasi visual menjadi tidak dapat dipercaya.</a:t>
            </a:r>
          </a:p>
          <a:p>
            <a:pPr algn="just" marL="539749" indent="-269875" lvl="1">
              <a:lnSpc>
                <a:spcPts val="3499"/>
              </a:lnSpc>
              <a:buFont typeface="Arial"/>
              <a:buChar char="•"/>
            </a:pPr>
            <a:r>
              <a:rPr lang="en-US" b="true" sz="2499">
                <a:solidFill>
                  <a:srgbClr val="000000"/>
                </a:solidFill>
                <a:latin typeface="Muli Bold"/>
                <a:ea typeface="Muli Bold"/>
                <a:cs typeface="Muli Bold"/>
                <a:sym typeface="Muli Bold"/>
              </a:rPr>
              <a:t>R</a:t>
            </a:r>
            <a:r>
              <a:rPr lang="en-US" b="true" sz="2499">
                <a:solidFill>
                  <a:srgbClr val="000000"/>
                </a:solidFill>
                <a:latin typeface="Muli Bold"/>
                <a:ea typeface="Muli Bold"/>
                <a:cs typeface="Muli Bold"/>
                <a:sym typeface="Muli Bold"/>
              </a:rPr>
              <a:t>isiko penyalahgunaan oleh pihak tidak bertanggung jawab.</a:t>
            </a:r>
          </a:p>
          <a:p>
            <a:pPr algn="just" marL="539749" indent="-269875" lvl="1">
              <a:lnSpc>
                <a:spcPts val="3499"/>
              </a:lnSpc>
              <a:buFont typeface="Arial"/>
              <a:buChar char="•"/>
            </a:pPr>
            <a:r>
              <a:rPr lang="en-US" b="true" sz="2499">
                <a:solidFill>
                  <a:srgbClr val="000000"/>
                </a:solidFill>
                <a:latin typeface="Muli Bold"/>
                <a:ea typeface="Muli Bold"/>
                <a:cs typeface="Muli Bold"/>
                <a:sym typeface="Muli Bold"/>
              </a:rPr>
              <a:t>M</a:t>
            </a:r>
            <a:r>
              <a:rPr lang="en-US" b="true" sz="2499">
                <a:solidFill>
                  <a:srgbClr val="000000"/>
                </a:solidFill>
                <a:latin typeface="Muli Bold"/>
                <a:ea typeface="Muli Bold"/>
                <a:cs typeface="Muli Bold"/>
                <a:sym typeface="Muli Bold"/>
              </a:rPr>
              <a:t>enurunnya kredibilitas sistem pengelolaan citra digital.</a:t>
            </a:r>
          </a:p>
        </p:txBody>
      </p:sp>
      <p:sp>
        <p:nvSpPr>
          <p:cNvPr name="Freeform 6" id="6"/>
          <p:cNvSpPr/>
          <p:nvPr/>
        </p:nvSpPr>
        <p:spPr>
          <a:xfrm flipH="false" flipV="false" rot="-10800000">
            <a:off x="1030373" y="-16696"/>
            <a:ext cx="1030373" cy="2060746"/>
          </a:xfrm>
          <a:custGeom>
            <a:avLst/>
            <a:gdLst/>
            <a:ahLst/>
            <a:cxnLst/>
            <a:rect r="r" b="b" t="t" l="l"/>
            <a:pathLst>
              <a:path h="2060746" w="1030373">
                <a:moveTo>
                  <a:pt x="0" y="0"/>
                </a:moveTo>
                <a:lnTo>
                  <a:pt x="1030373" y="0"/>
                </a:lnTo>
                <a:lnTo>
                  <a:pt x="1030373" y="2060746"/>
                </a:lnTo>
                <a:lnTo>
                  <a:pt x="0" y="20607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0800000">
            <a:off x="0" y="-16696"/>
            <a:ext cx="1030373" cy="2060746"/>
          </a:xfrm>
          <a:custGeom>
            <a:avLst/>
            <a:gdLst/>
            <a:ahLst/>
            <a:cxnLst/>
            <a:rect r="r" b="b" t="t" l="l"/>
            <a:pathLst>
              <a:path h="2060746" w="1030373">
                <a:moveTo>
                  <a:pt x="0" y="0"/>
                </a:moveTo>
                <a:lnTo>
                  <a:pt x="1030373" y="0"/>
                </a:lnTo>
                <a:lnTo>
                  <a:pt x="1030373" y="2060746"/>
                </a:lnTo>
                <a:lnTo>
                  <a:pt x="0" y="20607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false" rot="-10800000">
            <a:off x="0" y="8242950"/>
            <a:ext cx="2044050" cy="2044050"/>
          </a:xfrm>
          <a:custGeom>
            <a:avLst/>
            <a:gdLst/>
            <a:ahLst/>
            <a:cxnLst/>
            <a:rect r="r" b="b" t="t" l="l"/>
            <a:pathLst>
              <a:path h="2044050" w="2044050">
                <a:moveTo>
                  <a:pt x="2044050" y="0"/>
                </a:moveTo>
                <a:lnTo>
                  <a:pt x="0" y="0"/>
                </a:lnTo>
                <a:lnTo>
                  <a:pt x="0" y="2044050"/>
                </a:lnTo>
                <a:lnTo>
                  <a:pt x="2044050" y="2044050"/>
                </a:lnTo>
                <a:lnTo>
                  <a:pt x="204405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9" id="9"/>
          <p:cNvSpPr/>
          <p:nvPr/>
        </p:nvSpPr>
        <p:spPr>
          <a:xfrm rot="0">
            <a:off x="0" y="2044050"/>
            <a:ext cx="2057422" cy="2060735"/>
          </a:xfrm>
          <a:prstGeom prst="rect">
            <a:avLst/>
          </a:prstGeom>
          <a:solidFill>
            <a:srgbClr val="006BCB"/>
          </a:solidFill>
        </p:spPr>
      </p:sp>
      <p:sp>
        <p:nvSpPr>
          <p:cNvPr name="AutoShape 10" id="10"/>
          <p:cNvSpPr/>
          <p:nvPr/>
        </p:nvSpPr>
        <p:spPr>
          <a:xfrm rot="0">
            <a:off x="0" y="6167181"/>
            <a:ext cx="2057422" cy="2060735"/>
          </a:xfrm>
          <a:prstGeom prst="rect">
            <a:avLst/>
          </a:prstGeom>
          <a:solidFill>
            <a:srgbClr val="006BCB"/>
          </a:solidFill>
        </p:spPr>
      </p:sp>
      <p:grpSp>
        <p:nvGrpSpPr>
          <p:cNvPr name="Group 11" id="11"/>
          <p:cNvGrpSpPr/>
          <p:nvPr/>
        </p:nvGrpSpPr>
        <p:grpSpPr>
          <a:xfrm rot="-10800000">
            <a:off x="0" y="6178902"/>
            <a:ext cx="2060746" cy="2064048"/>
            <a:chOff x="0" y="0"/>
            <a:chExt cx="5663761" cy="5672837"/>
          </a:xfrm>
        </p:grpSpPr>
        <p:sp>
          <p:nvSpPr>
            <p:cNvPr name="Freeform 12" id="12"/>
            <p:cNvSpPr/>
            <p:nvPr/>
          </p:nvSpPr>
          <p:spPr>
            <a:xfrm flipH="false" flipV="false" rot="0">
              <a:off x="0" y="0"/>
              <a:ext cx="5663761" cy="5672837"/>
            </a:xfrm>
            <a:custGeom>
              <a:avLst/>
              <a:gdLst/>
              <a:ahLst/>
              <a:cxnLst/>
              <a:rect r="r" b="b" t="t" l="l"/>
              <a:pathLst>
                <a:path h="5672837" w="5663761">
                  <a:moveTo>
                    <a:pt x="2850943" y="0"/>
                  </a:moveTo>
                  <a:lnTo>
                    <a:pt x="2850943" y="0"/>
                  </a:lnTo>
                  <a:lnTo>
                    <a:pt x="2821940" y="0"/>
                  </a:lnTo>
                  <a:lnTo>
                    <a:pt x="0" y="0"/>
                  </a:lnTo>
                  <a:lnTo>
                    <a:pt x="2821940" y="2839615"/>
                  </a:lnTo>
                  <a:lnTo>
                    <a:pt x="0" y="5672837"/>
                  </a:lnTo>
                  <a:lnTo>
                    <a:pt x="2821940" y="5672837"/>
                  </a:lnTo>
                  <a:lnTo>
                    <a:pt x="2850943" y="5672837"/>
                  </a:lnTo>
                  <a:lnTo>
                    <a:pt x="2850943" y="5672837"/>
                  </a:lnTo>
                  <a:lnTo>
                    <a:pt x="5663761" y="2839615"/>
                  </a:lnTo>
                  <a:close/>
                </a:path>
              </a:pathLst>
            </a:custGeom>
            <a:solidFill>
              <a:srgbClr val="FFFFFF"/>
            </a:solidFill>
          </p:spPr>
        </p:sp>
      </p:grpSp>
      <p:sp>
        <p:nvSpPr>
          <p:cNvPr name="Freeform 13" id="13"/>
          <p:cNvSpPr/>
          <p:nvPr/>
        </p:nvSpPr>
        <p:spPr>
          <a:xfrm flipH="true" flipV="false" rot="-10800000">
            <a:off x="0" y="4108098"/>
            <a:ext cx="2057422" cy="2057422"/>
          </a:xfrm>
          <a:custGeom>
            <a:avLst/>
            <a:gdLst/>
            <a:ahLst/>
            <a:cxnLst/>
            <a:rect r="r" b="b" t="t" l="l"/>
            <a:pathLst>
              <a:path h="2057422" w="2057422">
                <a:moveTo>
                  <a:pt x="2057422" y="0"/>
                </a:moveTo>
                <a:lnTo>
                  <a:pt x="0" y="0"/>
                </a:lnTo>
                <a:lnTo>
                  <a:pt x="0" y="2057421"/>
                </a:lnTo>
                <a:lnTo>
                  <a:pt x="2057422" y="2057421"/>
                </a:lnTo>
                <a:lnTo>
                  <a:pt x="205742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8536488"/>
            <a:ext cx="18288000" cy="1750512"/>
          </a:xfrm>
          <a:prstGeom prst="rect">
            <a:avLst/>
          </a:prstGeom>
          <a:solidFill>
            <a:srgbClr val="FFD527"/>
          </a:solidFill>
        </p:spPr>
      </p:sp>
      <p:grpSp>
        <p:nvGrpSpPr>
          <p:cNvPr name="Group 3" id="3"/>
          <p:cNvGrpSpPr/>
          <p:nvPr/>
        </p:nvGrpSpPr>
        <p:grpSpPr>
          <a:xfrm rot="0">
            <a:off x="1230126" y="1771531"/>
            <a:ext cx="16029174" cy="4709701"/>
            <a:chOff x="0" y="0"/>
            <a:chExt cx="21372232" cy="6279601"/>
          </a:xfrm>
        </p:grpSpPr>
        <p:sp>
          <p:nvSpPr>
            <p:cNvPr name="TextBox 4" id="4"/>
            <p:cNvSpPr txBox="true"/>
            <p:nvPr/>
          </p:nvSpPr>
          <p:spPr>
            <a:xfrm rot="0">
              <a:off x="0" y="-123825"/>
              <a:ext cx="21372232" cy="27654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Metode Keamanan - Solusi Keamanan Citra Digital</a:t>
              </a:r>
            </a:p>
          </p:txBody>
        </p:sp>
        <p:sp>
          <p:nvSpPr>
            <p:cNvPr name="TextBox 5" id="5"/>
            <p:cNvSpPr txBox="true"/>
            <p:nvPr/>
          </p:nvSpPr>
          <p:spPr>
            <a:xfrm rot="0">
              <a:off x="0" y="3395643"/>
              <a:ext cx="17302029" cy="2883958"/>
            </a:xfrm>
            <a:prstGeom prst="rect">
              <a:avLst/>
            </a:prstGeom>
          </p:spPr>
          <p:txBody>
            <a:bodyPr anchor="t" rtlCol="false" tIns="0" lIns="0" bIns="0" rIns="0">
              <a:spAutoFit/>
            </a:bodyPr>
            <a:lstStyle/>
            <a:p>
              <a:pPr algn="just" marL="539751" indent="-269876" lvl="1">
                <a:lnSpc>
                  <a:spcPts val="3500"/>
                </a:lnSpc>
                <a:buFont typeface="Arial"/>
                <a:buChar char="•"/>
              </a:pPr>
              <a:r>
                <a:rPr lang="en-US" sz="2500">
                  <a:solidFill>
                    <a:srgbClr val="000000"/>
                  </a:solidFill>
                  <a:latin typeface="Muli"/>
                  <a:ea typeface="Muli"/>
                  <a:cs typeface="Muli"/>
                  <a:sym typeface="Muli"/>
                </a:rPr>
                <a:t>Metode:</a:t>
              </a:r>
              <a:r>
                <a:rPr lang="en-US" sz="2500">
                  <a:solidFill>
                    <a:srgbClr val="000000"/>
                  </a:solidFill>
                  <a:latin typeface="Muli"/>
                  <a:ea typeface="Muli"/>
                  <a:cs typeface="Muli"/>
                  <a:sym typeface="Muli"/>
                </a:rPr>
                <a:t> Enkripsi citra digital</a:t>
              </a:r>
            </a:p>
            <a:p>
              <a:pPr algn="just" marL="539751" indent="-269876" lvl="1">
                <a:lnSpc>
                  <a:spcPts val="3500"/>
                </a:lnSpc>
                <a:buFont typeface="Arial"/>
                <a:buChar char="•"/>
              </a:pPr>
              <a:r>
                <a:rPr lang="en-US" sz="2500">
                  <a:solidFill>
                    <a:srgbClr val="000000"/>
                  </a:solidFill>
                  <a:latin typeface="Muli"/>
                  <a:ea typeface="Muli"/>
                  <a:cs typeface="Muli"/>
                  <a:sym typeface="Muli"/>
                </a:rPr>
                <a:t>Proses enkripsi mengubah nilai piksel citra menggunakan kunci tertentu</a:t>
              </a:r>
              <a:r>
                <a:rPr lang="en-US" sz="2500">
                  <a:solidFill>
                    <a:srgbClr val="000000"/>
                  </a:solidFill>
                  <a:latin typeface="Muli"/>
                  <a:ea typeface="Muli"/>
                  <a:cs typeface="Muli"/>
                  <a:sym typeface="Muli"/>
                </a:rPr>
                <a:t>.</a:t>
              </a:r>
            </a:p>
            <a:p>
              <a:pPr algn="just" marL="539751" indent="-269876" lvl="1">
                <a:lnSpc>
                  <a:spcPts val="3500"/>
                </a:lnSpc>
                <a:buFont typeface="Arial"/>
                <a:buChar char="•"/>
              </a:pPr>
              <a:r>
                <a:rPr lang="en-US" sz="2500">
                  <a:solidFill>
                    <a:srgbClr val="000000"/>
                  </a:solidFill>
                  <a:latin typeface="Muli"/>
                  <a:ea typeface="Muli"/>
                  <a:cs typeface="Muli"/>
                  <a:sym typeface="Muli"/>
                </a:rPr>
                <a:t>C</a:t>
              </a:r>
              <a:r>
                <a:rPr lang="en-US" sz="2500">
                  <a:solidFill>
                    <a:srgbClr val="000000"/>
                  </a:solidFill>
                  <a:latin typeface="Muli"/>
                  <a:ea typeface="Muli"/>
                  <a:cs typeface="Muli"/>
                  <a:sym typeface="Muli"/>
                </a:rPr>
                <a:t>itra yang terenkripsi tidak dapat dikenali tanpa dekripsi menggunakan kunci yang sama.</a:t>
              </a:r>
            </a:p>
            <a:p>
              <a:pPr algn="just" marL="539751" indent="-269876" lvl="1">
                <a:lnSpc>
                  <a:spcPts val="3500"/>
                </a:lnSpc>
                <a:buFont typeface="Arial"/>
                <a:buChar char="•"/>
              </a:pPr>
              <a:r>
                <a:rPr lang="en-US" sz="2500">
                  <a:solidFill>
                    <a:srgbClr val="000000"/>
                  </a:solidFill>
                  <a:latin typeface="Muli"/>
                  <a:ea typeface="Muli"/>
                  <a:cs typeface="Muli"/>
                  <a:sym typeface="Muli"/>
                </a:rPr>
                <a:t>Menjamin kerahasiaan dan integritas citra selama penyimpanan dan distribusi.</a:t>
              </a:r>
            </a:p>
          </p:txBody>
        </p:sp>
      </p:gr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0" y="8986689"/>
            <a:ext cx="18288000" cy="1750512"/>
          </a:xfrm>
          <a:prstGeom prst="rect">
            <a:avLst/>
          </a:prstGeom>
          <a:solidFill>
            <a:srgbClr val="FFD527"/>
          </a:solidFill>
        </p:spPr>
      </p:sp>
      <p:grpSp>
        <p:nvGrpSpPr>
          <p:cNvPr name="Group 3" id="3"/>
          <p:cNvGrpSpPr/>
          <p:nvPr/>
        </p:nvGrpSpPr>
        <p:grpSpPr>
          <a:xfrm rot="0">
            <a:off x="1129413" y="1028700"/>
            <a:ext cx="16029174" cy="6462301"/>
            <a:chOff x="0" y="0"/>
            <a:chExt cx="21372232" cy="8616401"/>
          </a:xfrm>
        </p:grpSpPr>
        <p:sp>
          <p:nvSpPr>
            <p:cNvPr name="TextBox 4" id="4"/>
            <p:cNvSpPr txBox="true"/>
            <p:nvPr/>
          </p:nvSpPr>
          <p:spPr>
            <a:xfrm rot="0">
              <a:off x="0" y="-123825"/>
              <a:ext cx="21372232" cy="27654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Keunggulan Enkripsi Citra dalam Studi Kasus Ini</a:t>
              </a:r>
            </a:p>
          </p:txBody>
        </p:sp>
        <p:sp>
          <p:nvSpPr>
            <p:cNvPr name="TextBox 5" id="5"/>
            <p:cNvSpPr txBox="true"/>
            <p:nvPr/>
          </p:nvSpPr>
          <p:spPr>
            <a:xfrm rot="0">
              <a:off x="0" y="3395643"/>
              <a:ext cx="21372232" cy="5220758"/>
            </a:xfrm>
            <a:prstGeom prst="rect">
              <a:avLst/>
            </a:prstGeom>
          </p:spPr>
          <p:txBody>
            <a:bodyPr anchor="t" rtlCol="false" tIns="0" lIns="0" bIns="0" rIns="0">
              <a:spAutoFit/>
            </a:bodyPr>
            <a:lstStyle/>
            <a:p>
              <a:pPr algn="just" marL="539751" indent="-269876" lvl="1">
                <a:lnSpc>
                  <a:spcPts val="3500"/>
                </a:lnSpc>
                <a:buFont typeface="Arial"/>
                <a:buChar char="•"/>
              </a:pPr>
              <a:r>
                <a:rPr lang="en-US" b="true" sz="2500">
                  <a:solidFill>
                    <a:srgbClr val="000000"/>
                  </a:solidFill>
                  <a:latin typeface="Muli Bold"/>
                  <a:ea typeface="Muli Bold"/>
                  <a:cs typeface="Muli Bold"/>
                  <a:sym typeface="Muli Bold"/>
                </a:rPr>
                <a:t>Sederhana dan Efektif</a:t>
              </a:r>
              <a:r>
                <a:rPr lang="en-US" sz="2500">
                  <a:solidFill>
                    <a:srgbClr val="000000"/>
                  </a:solidFill>
                  <a:latin typeface="Muli"/>
                  <a:ea typeface="Muli"/>
                  <a:cs typeface="Muli"/>
                  <a:sym typeface="Muli"/>
                </a:rPr>
                <a:t>: Proses</a:t>
              </a:r>
              <a:r>
                <a:rPr lang="en-US" sz="2500">
                  <a:solidFill>
                    <a:srgbClr val="000000"/>
                  </a:solidFill>
                  <a:latin typeface="Muli"/>
                  <a:ea typeface="Muli"/>
                  <a:cs typeface="Muli"/>
                  <a:sym typeface="Muli"/>
                </a:rPr>
                <a:t> enkripsi dan dekripsi citra relatif mudah diterapkan pada dataset MIT Indoor Scene Recognition. Pengguna hanya memerlukan kunci tertentu untuk mengamankan dan mengakses kembali c</a:t>
              </a:r>
              <a:r>
                <a:rPr lang="en-US" sz="2500">
                  <a:solidFill>
                    <a:srgbClr val="000000"/>
                  </a:solidFill>
                  <a:latin typeface="Muli"/>
                  <a:ea typeface="Muli"/>
                  <a:cs typeface="Muli"/>
                  <a:sym typeface="Muli"/>
                </a:rPr>
                <a:t>itra.</a:t>
              </a:r>
            </a:p>
            <a:p>
              <a:pPr algn="just" marL="539751" indent="-269876" lvl="1">
                <a:lnSpc>
                  <a:spcPts val="3500"/>
                </a:lnSpc>
                <a:buFont typeface="Arial"/>
                <a:buChar char="•"/>
              </a:pPr>
              <a:r>
                <a:rPr lang="en-US" b="true" sz="2500">
                  <a:solidFill>
                    <a:srgbClr val="000000"/>
                  </a:solidFill>
                  <a:latin typeface="Muli Bold"/>
                  <a:ea typeface="Muli Bold"/>
                  <a:cs typeface="Muli Bold"/>
                  <a:sym typeface="Muli Bold"/>
                </a:rPr>
                <a:t>Perbandingan Visual yang Jelas</a:t>
              </a:r>
              <a:r>
                <a:rPr lang="en-US" sz="2500">
                  <a:solidFill>
                    <a:srgbClr val="000000"/>
                  </a:solidFill>
                  <a:latin typeface="Muli"/>
                  <a:ea typeface="Muli"/>
                  <a:cs typeface="Muli"/>
                  <a:sym typeface="Muli"/>
                </a:rPr>
                <a:t>: Keberhasilan enkripsi dapat diuji dengan membandingkan citra asli, citra terenkripsi, dan citra terdekripsi, sehingga jelas terlihat bahwa informasi citra benar-benar tersamarkan saat terenkripsi.</a:t>
              </a:r>
            </a:p>
            <a:p>
              <a:pPr algn="just" marL="539751" indent="-269876" lvl="1">
                <a:lnSpc>
                  <a:spcPts val="3500"/>
                </a:lnSpc>
                <a:buFont typeface="Arial"/>
                <a:buChar char="•"/>
              </a:pPr>
              <a:r>
                <a:rPr lang="en-US" b="true" sz="2500">
                  <a:solidFill>
                    <a:srgbClr val="000000"/>
                  </a:solidFill>
                  <a:latin typeface="Muli Bold"/>
                  <a:ea typeface="Muli Bold"/>
                  <a:cs typeface="Muli Bold"/>
                  <a:sym typeface="Muli Bold"/>
                </a:rPr>
                <a:t>P</a:t>
              </a:r>
              <a:r>
                <a:rPr lang="en-US" b="true" sz="2500">
                  <a:solidFill>
                    <a:srgbClr val="000000"/>
                  </a:solidFill>
                  <a:latin typeface="Muli Bold"/>
                  <a:ea typeface="Muli Bold"/>
                  <a:cs typeface="Muli Bold"/>
                  <a:sym typeface="Muli Bold"/>
                </a:rPr>
                <a:t>erlindungan terhadap Kebocoran dan Manipulasi</a:t>
              </a:r>
              <a:r>
                <a:rPr lang="en-US" sz="2500">
                  <a:solidFill>
                    <a:srgbClr val="000000"/>
                  </a:solidFill>
                  <a:latin typeface="Muli"/>
                  <a:ea typeface="Muli"/>
                  <a:cs typeface="Muli"/>
                  <a:sym typeface="Muli"/>
                </a:rPr>
                <a:t>: Enkripsi melindungi citra dari akses tidak sah atau manipulasi yang dapat merusak integritas visual, sangat relevan untuk citra lingkungan dalam ruangan yang mungkin mengandung informasi sensitif.</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9144000" cy="10287000"/>
          </a:xfrm>
          <a:prstGeom prst="rect">
            <a:avLst/>
          </a:prstGeom>
          <a:solidFill>
            <a:srgbClr val="FFD527"/>
          </a:solidFill>
        </p:spPr>
      </p:sp>
      <p:sp>
        <p:nvSpPr>
          <p:cNvPr name="Freeform 3" id="3"/>
          <p:cNvSpPr/>
          <p:nvPr/>
        </p:nvSpPr>
        <p:spPr>
          <a:xfrm flipH="false" flipV="false" rot="0">
            <a:off x="10099183" y="3364435"/>
            <a:ext cx="7160117" cy="4237620"/>
          </a:xfrm>
          <a:custGeom>
            <a:avLst/>
            <a:gdLst/>
            <a:ahLst/>
            <a:cxnLst/>
            <a:rect r="r" b="b" t="t" l="l"/>
            <a:pathLst>
              <a:path h="4237620" w="7160117">
                <a:moveTo>
                  <a:pt x="0" y="0"/>
                </a:moveTo>
                <a:lnTo>
                  <a:pt x="7160117" y="0"/>
                </a:lnTo>
                <a:lnTo>
                  <a:pt x="7160117" y="4237620"/>
                </a:lnTo>
                <a:lnTo>
                  <a:pt x="0" y="4237620"/>
                </a:lnTo>
                <a:lnTo>
                  <a:pt x="0" y="0"/>
                </a:lnTo>
                <a:close/>
              </a:path>
            </a:pathLst>
          </a:custGeom>
          <a:blipFill>
            <a:blip r:embed="rId2"/>
            <a:stretch>
              <a:fillRect l="0" t="0" r="0" b="0"/>
            </a:stretch>
          </a:blipFill>
        </p:spPr>
      </p:sp>
      <p:grpSp>
        <p:nvGrpSpPr>
          <p:cNvPr name="Group 4" id="4"/>
          <p:cNvGrpSpPr/>
          <p:nvPr/>
        </p:nvGrpSpPr>
        <p:grpSpPr>
          <a:xfrm rot="0">
            <a:off x="1028700" y="1638387"/>
            <a:ext cx="7519135" cy="1418438"/>
            <a:chOff x="0" y="0"/>
            <a:chExt cx="10025513" cy="1891251"/>
          </a:xfrm>
        </p:grpSpPr>
        <p:sp>
          <p:nvSpPr>
            <p:cNvPr name="TextBox 5" id="5"/>
            <p:cNvSpPr txBox="true"/>
            <p:nvPr/>
          </p:nvSpPr>
          <p:spPr>
            <a:xfrm rot="0">
              <a:off x="0" y="-123825"/>
              <a:ext cx="10025513" cy="13430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Alur Sistem</a:t>
              </a:r>
            </a:p>
          </p:txBody>
        </p:sp>
        <p:sp>
          <p:nvSpPr>
            <p:cNvPr name="TextBox 6" id="6"/>
            <p:cNvSpPr txBox="true"/>
            <p:nvPr/>
          </p:nvSpPr>
          <p:spPr>
            <a:xfrm rot="0">
              <a:off x="0" y="1353618"/>
              <a:ext cx="10025513" cy="537633"/>
            </a:xfrm>
            <a:prstGeom prst="rect">
              <a:avLst/>
            </a:prstGeom>
          </p:spPr>
          <p:txBody>
            <a:bodyPr anchor="t" rtlCol="false" tIns="0" lIns="0" bIns="0" rIns="0">
              <a:spAutoFit/>
            </a:bodyPr>
            <a:lstStyle/>
            <a:p>
              <a:pPr algn="l">
                <a:lnSpc>
                  <a:spcPts val="3499"/>
                </a:lnSpc>
              </a:pPr>
              <a:r>
                <a:rPr lang="en-US" sz="2499">
                  <a:solidFill>
                    <a:srgbClr val="000000"/>
                  </a:solidFill>
                  <a:latin typeface="Muli"/>
                  <a:ea typeface="Muli"/>
                  <a:cs typeface="Muli"/>
                  <a:sym typeface="Muli"/>
                </a:rPr>
                <a:t>P</a:t>
              </a:r>
              <a:r>
                <a:rPr lang="en-US" sz="2499">
                  <a:solidFill>
                    <a:srgbClr val="000000"/>
                  </a:solidFill>
                  <a:latin typeface="Muli"/>
                  <a:ea typeface="Muli"/>
                  <a:cs typeface="Muli"/>
                  <a:sym typeface="Muli"/>
                </a:rPr>
                <a:t>roses Keamanan Citra</a:t>
              </a:r>
            </a:p>
          </p:txBody>
        </p:sp>
      </p:grpSp>
      <p:sp>
        <p:nvSpPr>
          <p:cNvPr name="TextBox 7" id="7"/>
          <p:cNvSpPr txBox="true"/>
          <p:nvPr/>
        </p:nvSpPr>
        <p:spPr>
          <a:xfrm rot="0">
            <a:off x="812433" y="3326335"/>
            <a:ext cx="7519135" cy="3917950"/>
          </a:xfrm>
          <a:prstGeom prst="rect">
            <a:avLst/>
          </a:prstGeom>
        </p:spPr>
        <p:txBody>
          <a:bodyPr anchor="t" rtlCol="false" tIns="0" lIns="0" bIns="0" rIns="0">
            <a:spAutoFit/>
          </a:bodyPr>
          <a:lstStyle/>
          <a:p>
            <a:pPr algn="just" marL="539749" indent="-269875" lvl="1">
              <a:lnSpc>
                <a:spcPts val="3499"/>
              </a:lnSpc>
              <a:buFont typeface="Arial"/>
              <a:buChar char="•"/>
            </a:pPr>
            <a:r>
              <a:rPr lang="en-US" sz="2499" u="none">
                <a:solidFill>
                  <a:srgbClr val="000000"/>
                </a:solidFill>
                <a:latin typeface="Muli"/>
                <a:ea typeface="Muli"/>
                <a:cs typeface="Muli"/>
                <a:sym typeface="Muli"/>
              </a:rPr>
              <a:t>Citra asli diambil dari dataset MIT Indoor Scene Recognition.</a:t>
            </a:r>
          </a:p>
          <a:p>
            <a:pPr algn="just" marL="539750" indent="-269875" lvl="1">
              <a:lnSpc>
                <a:spcPts val="3499"/>
              </a:lnSpc>
              <a:buFont typeface="Arial"/>
              <a:buChar char="•"/>
            </a:pPr>
            <a:r>
              <a:rPr lang="en-US" sz="2499" u="none">
                <a:solidFill>
                  <a:srgbClr val="000000"/>
                </a:solidFill>
                <a:latin typeface="Muli"/>
                <a:ea typeface="Muli"/>
                <a:cs typeface="Muli"/>
                <a:sym typeface="Muli"/>
              </a:rPr>
              <a:t>Pengguna memasukkan kunci enkripsi.</a:t>
            </a:r>
          </a:p>
          <a:p>
            <a:pPr algn="just" marL="539749" indent="-269875" lvl="1">
              <a:lnSpc>
                <a:spcPts val="3499"/>
              </a:lnSpc>
              <a:buFont typeface="Arial"/>
              <a:buChar char="•"/>
            </a:pPr>
            <a:r>
              <a:rPr lang="en-US" sz="2499" u="none">
                <a:solidFill>
                  <a:srgbClr val="000000"/>
                </a:solidFill>
                <a:latin typeface="Muli"/>
                <a:ea typeface="Muli"/>
                <a:cs typeface="Muli"/>
                <a:sym typeface="Muli"/>
              </a:rPr>
              <a:t>Sistem melakukan proses enkripsi dan menghasilkan citra terenkripsi.</a:t>
            </a:r>
          </a:p>
          <a:p>
            <a:pPr algn="just" marL="539749" indent="-269875" lvl="1">
              <a:lnSpc>
                <a:spcPts val="3499"/>
              </a:lnSpc>
              <a:buFont typeface="Arial"/>
              <a:buChar char="•"/>
            </a:pPr>
            <a:r>
              <a:rPr lang="en-US" sz="2499" u="none">
                <a:solidFill>
                  <a:srgbClr val="000000"/>
                </a:solidFill>
                <a:latin typeface="Muli"/>
                <a:ea typeface="Muli"/>
                <a:cs typeface="Muli"/>
                <a:sym typeface="Muli"/>
              </a:rPr>
              <a:t>Citra terenkripsi dapat disimpan atau dikirim.</a:t>
            </a:r>
          </a:p>
          <a:p>
            <a:pPr algn="just" marL="539749" indent="-269875" lvl="1">
              <a:lnSpc>
                <a:spcPts val="3499"/>
              </a:lnSpc>
              <a:buFont typeface="Arial"/>
              <a:buChar char="•"/>
            </a:pPr>
            <a:r>
              <a:rPr lang="en-US" sz="2499" u="none">
                <a:solidFill>
                  <a:srgbClr val="000000"/>
                </a:solidFill>
                <a:latin typeface="Muli"/>
                <a:ea typeface="Muli"/>
                <a:cs typeface="Muli"/>
                <a:sym typeface="Muli"/>
              </a:rPr>
              <a:t>Untuk membuka kembali, pengguna memasukkan ku</a:t>
            </a:r>
            <a:r>
              <a:rPr lang="en-US" sz="2499" u="none">
                <a:solidFill>
                  <a:srgbClr val="000000"/>
                </a:solidFill>
                <a:latin typeface="Muli"/>
                <a:ea typeface="Muli"/>
                <a:cs typeface="Muli"/>
                <a:sym typeface="Muli"/>
              </a:rPr>
              <a:t>nci dekripsi, dan citra asli dikembalikan.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8536488"/>
            <a:ext cx="18288000" cy="1750512"/>
          </a:xfrm>
          <a:prstGeom prst="rect">
            <a:avLst/>
          </a:prstGeom>
          <a:solidFill>
            <a:srgbClr val="FFD527"/>
          </a:solidFill>
        </p:spPr>
      </p:sp>
      <p:sp>
        <p:nvSpPr>
          <p:cNvPr name="Freeform 3" id="3"/>
          <p:cNvSpPr/>
          <p:nvPr/>
        </p:nvSpPr>
        <p:spPr>
          <a:xfrm flipH="false" flipV="false" rot="0">
            <a:off x="4038191" y="2743770"/>
            <a:ext cx="10211617" cy="4799460"/>
          </a:xfrm>
          <a:custGeom>
            <a:avLst/>
            <a:gdLst/>
            <a:ahLst/>
            <a:cxnLst/>
            <a:rect r="r" b="b" t="t" l="l"/>
            <a:pathLst>
              <a:path h="4799460" w="10211617">
                <a:moveTo>
                  <a:pt x="0" y="0"/>
                </a:moveTo>
                <a:lnTo>
                  <a:pt x="10211618" y="0"/>
                </a:lnTo>
                <a:lnTo>
                  <a:pt x="10211618" y="4799460"/>
                </a:lnTo>
                <a:lnTo>
                  <a:pt x="0" y="4799460"/>
                </a:lnTo>
                <a:lnTo>
                  <a:pt x="0" y="0"/>
                </a:lnTo>
                <a:close/>
              </a:path>
            </a:pathLst>
          </a:custGeom>
          <a:blipFill>
            <a:blip r:embed="rId2"/>
            <a:stretch>
              <a:fillRect l="0" t="0" r="0" b="0"/>
            </a:stretch>
          </a:blipFill>
        </p:spPr>
      </p:sp>
      <p:sp>
        <p:nvSpPr>
          <p:cNvPr name="TextBox 4" id="4"/>
          <p:cNvSpPr txBox="true"/>
          <p:nvPr/>
        </p:nvSpPr>
        <p:spPr>
          <a:xfrm rot="0">
            <a:off x="3296488" y="1332566"/>
            <a:ext cx="16029174" cy="10382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Citra Asli Dataset MIT Indoor</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8862305"/>
            <a:ext cx="18288000" cy="1750512"/>
          </a:xfrm>
          <a:prstGeom prst="rect">
            <a:avLst/>
          </a:prstGeom>
          <a:solidFill>
            <a:srgbClr val="FFD527"/>
          </a:solidFill>
        </p:spPr>
      </p:sp>
      <p:sp>
        <p:nvSpPr>
          <p:cNvPr name="Freeform 3" id="3"/>
          <p:cNvSpPr/>
          <p:nvPr/>
        </p:nvSpPr>
        <p:spPr>
          <a:xfrm flipH="false" flipV="false" rot="0">
            <a:off x="6724588" y="2532041"/>
            <a:ext cx="4586487" cy="6168339"/>
          </a:xfrm>
          <a:custGeom>
            <a:avLst/>
            <a:gdLst/>
            <a:ahLst/>
            <a:cxnLst/>
            <a:rect r="r" b="b" t="t" l="l"/>
            <a:pathLst>
              <a:path h="6168339" w="4586487">
                <a:moveTo>
                  <a:pt x="0" y="0"/>
                </a:moveTo>
                <a:lnTo>
                  <a:pt x="4586487" y="0"/>
                </a:lnTo>
                <a:lnTo>
                  <a:pt x="4586487" y="6168339"/>
                </a:lnTo>
                <a:lnTo>
                  <a:pt x="0" y="6168339"/>
                </a:lnTo>
                <a:lnTo>
                  <a:pt x="0" y="0"/>
                </a:lnTo>
                <a:close/>
              </a:path>
            </a:pathLst>
          </a:custGeom>
          <a:blipFill>
            <a:blip r:embed="rId2"/>
            <a:stretch>
              <a:fillRect l="0" t="0" r="0" b="0"/>
            </a:stretch>
          </a:blipFill>
        </p:spPr>
      </p:sp>
      <p:sp>
        <p:nvSpPr>
          <p:cNvPr name="TextBox 4" id="4"/>
          <p:cNvSpPr txBox="true"/>
          <p:nvPr/>
        </p:nvSpPr>
        <p:spPr>
          <a:xfrm rot="0">
            <a:off x="3296488" y="1332566"/>
            <a:ext cx="16029174" cy="10382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Citra Asli Dataset MIT Indoor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9258300"/>
            <a:ext cx="18288000" cy="1750512"/>
          </a:xfrm>
          <a:prstGeom prst="rect">
            <a:avLst/>
          </a:prstGeom>
          <a:solidFill>
            <a:srgbClr val="FFD527"/>
          </a:solidFill>
        </p:spPr>
      </p:sp>
      <p:sp>
        <p:nvSpPr>
          <p:cNvPr name="Freeform 3" id="3"/>
          <p:cNvSpPr/>
          <p:nvPr/>
        </p:nvSpPr>
        <p:spPr>
          <a:xfrm flipH="false" flipV="false" rot="0">
            <a:off x="5759123" y="3441846"/>
            <a:ext cx="5959392" cy="5816454"/>
          </a:xfrm>
          <a:custGeom>
            <a:avLst/>
            <a:gdLst/>
            <a:ahLst/>
            <a:cxnLst/>
            <a:rect r="r" b="b" t="t" l="l"/>
            <a:pathLst>
              <a:path h="5816454" w="5959392">
                <a:moveTo>
                  <a:pt x="0" y="0"/>
                </a:moveTo>
                <a:lnTo>
                  <a:pt x="5959392" y="0"/>
                </a:lnTo>
                <a:lnTo>
                  <a:pt x="5959392" y="5816454"/>
                </a:lnTo>
                <a:lnTo>
                  <a:pt x="0" y="5816454"/>
                </a:lnTo>
                <a:lnTo>
                  <a:pt x="0" y="0"/>
                </a:lnTo>
                <a:close/>
              </a:path>
            </a:pathLst>
          </a:custGeom>
          <a:blipFill>
            <a:blip r:embed="rId2"/>
            <a:stretch>
              <a:fillRect l="0" t="0" r="0" b="0"/>
            </a:stretch>
          </a:blipFill>
        </p:spPr>
      </p:sp>
      <p:sp>
        <p:nvSpPr>
          <p:cNvPr name="TextBox 4" id="4"/>
          <p:cNvSpPr txBox="true"/>
          <p:nvPr/>
        </p:nvSpPr>
        <p:spPr>
          <a:xfrm rot="0">
            <a:off x="4021953" y="828675"/>
            <a:ext cx="10244094" cy="10382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Masukkan Kunci Enkripsi</a:t>
            </a:r>
          </a:p>
        </p:txBody>
      </p:sp>
      <p:sp>
        <p:nvSpPr>
          <p:cNvPr name="TextBox 5" id="5"/>
          <p:cNvSpPr txBox="true"/>
          <p:nvPr/>
        </p:nvSpPr>
        <p:spPr>
          <a:xfrm rot="0">
            <a:off x="2390597" y="1972217"/>
            <a:ext cx="13506805" cy="1289050"/>
          </a:xfrm>
          <a:prstGeom prst="rect">
            <a:avLst/>
          </a:prstGeom>
        </p:spPr>
        <p:txBody>
          <a:bodyPr anchor="t" rtlCol="false" tIns="0" lIns="0" bIns="0" rIns="0">
            <a:spAutoFit/>
          </a:bodyPr>
          <a:lstStyle/>
          <a:p>
            <a:pPr algn="just">
              <a:lnSpc>
                <a:spcPts val="3499"/>
              </a:lnSpc>
            </a:pPr>
            <a:r>
              <a:rPr lang="en-US" sz="2499">
                <a:solidFill>
                  <a:srgbClr val="000000"/>
                </a:solidFill>
                <a:latin typeface="Muli"/>
                <a:ea typeface="Muli"/>
                <a:cs typeface="Muli"/>
                <a:sym typeface="Muli"/>
              </a:rPr>
              <a:t>Kode </a:t>
            </a:r>
            <a:r>
              <a:rPr lang="en-US" sz="2499" u="none">
                <a:solidFill>
                  <a:srgbClr val="000000"/>
                </a:solidFill>
                <a:latin typeface="Muli"/>
                <a:ea typeface="Muli"/>
                <a:cs typeface="Muli"/>
                <a:sym typeface="Muli"/>
              </a:rPr>
              <a:t>ini mendemonstrasikan proses enkripsi dan dekripsi citra sederhana menggunakan operasi XOR. Pertama, sebuah citra dari dataset MIT Indoor dimuat. Kemudian, citra tersebut dienkripsi menggunakan kunci enkripsi yang dimasukkan pengguna.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8536488"/>
            <a:ext cx="18288000" cy="1750512"/>
          </a:xfrm>
          <a:prstGeom prst="rect">
            <a:avLst/>
          </a:prstGeom>
          <a:solidFill>
            <a:srgbClr val="FFD527"/>
          </a:solidFill>
        </p:spPr>
      </p:sp>
      <p:sp>
        <p:nvSpPr>
          <p:cNvPr name="Freeform 3" id="3"/>
          <p:cNvSpPr/>
          <p:nvPr/>
        </p:nvSpPr>
        <p:spPr>
          <a:xfrm flipH="false" flipV="false" rot="0">
            <a:off x="5782194" y="3071722"/>
            <a:ext cx="5780659" cy="2954918"/>
          </a:xfrm>
          <a:custGeom>
            <a:avLst/>
            <a:gdLst/>
            <a:ahLst/>
            <a:cxnLst/>
            <a:rect r="r" b="b" t="t" l="l"/>
            <a:pathLst>
              <a:path h="2954918" w="5780659">
                <a:moveTo>
                  <a:pt x="0" y="0"/>
                </a:moveTo>
                <a:lnTo>
                  <a:pt x="5780659" y="0"/>
                </a:lnTo>
                <a:lnTo>
                  <a:pt x="5780659" y="2954918"/>
                </a:lnTo>
                <a:lnTo>
                  <a:pt x="0" y="2954918"/>
                </a:lnTo>
                <a:lnTo>
                  <a:pt x="0" y="0"/>
                </a:lnTo>
                <a:close/>
              </a:path>
            </a:pathLst>
          </a:custGeom>
          <a:blipFill>
            <a:blip r:embed="rId2"/>
            <a:stretch>
              <a:fillRect l="0" t="0" r="0" b="0"/>
            </a:stretch>
          </a:blipFill>
        </p:spPr>
      </p:sp>
      <p:sp>
        <p:nvSpPr>
          <p:cNvPr name="TextBox 4" id="4"/>
          <p:cNvSpPr txBox="true"/>
          <p:nvPr/>
        </p:nvSpPr>
        <p:spPr>
          <a:xfrm rot="0">
            <a:off x="3296488" y="1332566"/>
            <a:ext cx="16029174" cy="10382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Masukkan Kunci Dekripsi</a:t>
            </a:r>
          </a:p>
        </p:txBody>
      </p:sp>
      <p:sp>
        <p:nvSpPr>
          <p:cNvPr name="TextBox 5" id="5"/>
          <p:cNvSpPr txBox="true"/>
          <p:nvPr/>
        </p:nvSpPr>
        <p:spPr>
          <a:xfrm rot="0">
            <a:off x="4746732" y="6693390"/>
            <a:ext cx="7451605" cy="1289050"/>
          </a:xfrm>
          <a:prstGeom prst="rect">
            <a:avLst/>
          </a:prstGeom>
        </p:spPr>
        <p:txBody>
          <a:bodyPr anchor="t" rtlCol="false" tIns="0" lIns="0" bIns="0" rIns="0">
            <a:spAutoFit/>
          </a:bodyPr>
          <a:lstStyle/>
          <a:p>
            <a:pPr algn="just">
              <a:lnSpc>
                <a:spcPts val="3499"/>
              </a:lnSpc>
            </a:pPr>
            <a:r>
              <a:rPr lang="en-US" sz="2499">
                <a:solidFill>
                  <a:srgbClr val="000000"/>
                </a:solidFill>
                <a:latin typeface="Muli"/>
                <a:ea typeface="Muli"/>
                <a:cs typeface="Muli"/>
                <a:sym typeface="Muli"/>
              </a:rPr>
              <a:t>Sebuah citra dimuat, kemudian dienkripsi menggunakan kunci enkripsi yang dimasukkan pengguna.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9161963"/>
            <a:ext cx="18288000" cy="1750512"/>
          </a:xfrm>
          <a:prstGeom prst="rect">
            <a:avLst/>
          </a:prstGeom>
          <a:solidFill>
            <a:srgbClr val="FFD527"/>
          </a:solidFill>
        </p:spPr>
      </p:sp>
      <p:sp>
        <p:nvSpPr>
          <p:cNvPr name="Freeform 3" id="3"/>
          <p:cNvSpPr/>
          <p:nvPr/>
        </p:nvSpPr>
        <p:spPr>
          <a:xfrm flipH="false" flipV="false" rot="0">
            <a:off x="1805449" y="2016735"/>
            <a:ext cx="5899606" cy="5304331"/>
          </a:xfrm>
          <a:custGeom>
            <a:avLst/>
            <a:gdLst/>
            <a:ahLst/>
            <a:cxnLst/>
            <a:rect r="r" b="b" t="t" l="l"/>
            <a:pathLst>
              <a:path h="5304331" w="5899606">
                <a:moveTo>
                  <a:pt x="0" y="0"/>
                </a:moveTo>
                <a:lnTo>
                  <a:pt x="5899606" y="0"/>
                </a:lnTo>
                <a:lnTo>
                  <a:pt x="5899606" y="5304331"/>
                </a:lnTo>
                <a:lnTo>
                  <a:pt x="0" y="5304331"/>
                </a:lnTo>
                <a:lnTo>
                  <a:pt x="0" y="0"/>
                </a:lnTo>
                <a:close/>
              </a:path>
            </a:pathLst>
          </a:custGeom>
          <a:blipFill>
            <a:blip r:embed="rId2"/>
            <a:stretch>
              <a:fillRect l="0" t="0" r="0" b="0"/>
            </a:stretch>
          </a:blipFill>
        </p:spPr>
      </p:sp>
      <p:sp>
        <p:nvSpPr>
          <p:cNvPr name="Freeform 4" id="4"/>
          <p:cNvSpPr/>
          <p:nvPr/>
        </p:nvSpPr>
        <p:spPr>
          <a:xfrm flipH="false" flipV="false" rot="0">
            <a:off x="11333585" y="2016735"/>
            <a:ext cx="5400551" cy="4929631"/>
          </a:xfrm>
          <a:custGeom>
            <a:avLst/>
            <a:gdLst/>
            <a:ahLst/>
            <a:cxnLst/>
            <a:rect r="r" b="b" t="t" l="l"/>
            <a:pathLst>
              <a:path h="4929631" w="5400551">
                <a:moveTo>
                  <a:pt x="0" y="0"/>
                </a:moveTo>
                <a:lnTo>
                  <a:pt x="5400551" y="0"/>
                </a:lnTo>
                <a:lnTo>
                  <a:pt x="5400551" y="4929631"/>
                </a:lnTo>
                <a:lnTo>
                  <a:pt x="0" y="4929631"/>
                </a:lnTo>
                <a:lnTo>
                  <a:pt x="0" y="0"/>
                </a:lnTo>
                <a:close/>
              </a:path>
            </a:pathLst>
          </a:custGeom>
          <a:blipFill>
            <a:blip r:embed="rId3"/>
            <a:stretch>
              <a:fillRect l="0" t="0" r="0" b="0"/>
            </a:stretch>
          </a:blipFill>
        </p:spPr>
      </p:sp>
      <p:sp>
        <p:nvSpPr>
          <p:cNvPr name="TextBox 5" id="5"/>
          <p:cNvSpPr txBox="true"/>
          <p:nvPr/>
        </p:nvSpPr>
        <p:spPr>
          <a:xfrm rot="0">
            <a:off x="3318998" y="702285"/>
            <a:ext cx="16029174" cy="10382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Masukkan Kunci Dekripsi</a:t>
            </a:r>
          </a:p>
        </p:txBody>
      </p:sp>
      <p:sp>
        <p:nvSpPr>
          <p:cNvPr name="TextBox 6" id="6"/>
          <p:cNvSpPr txBox="true"/>
          <p:nvPr/>
        </p:nvSpPr>
        <p:spPr>
          <a:xfrm rot="0">
            <a:off x="2177566" y="7577939"/>
            <a:ext cx="13932869" cy="1289050"/>
          </a:xfrm>
          <a:prstGeom prst="rect">
            <a:avLst/>
          </a:prstGeom>
        </p:spPr>
        <p:txBody>
          <a:bodyPr anchor="t" rtlCol="false" tIns="0" lIns="0" bIns="0" rIns="0">
            <a:spAutoFit/>
          </a:bodyPr>
          <a:lstStyle/>
          <a:p>
            <a:pPr algn="just">
              <a:lnSpc>
                <a:spcPts val="3499"/>
              </a:lnSpc>
            </a:pPr>
            <a:r>
              <a:rPr lang="en-US" sz="2499">
                <a:solidFill>
                  <a:srgbClr val="000000"/>
                </a:solidFill>
                <a:latin typeface="Muli"/>
                <a:ea typeface="Muli"/>
                <a:cs typeface="Muli"/>
                <a:sym typeface="Muli"/>
              </a:rPr>
              <a:t>Jika key yang dimasukkan dalam deskripsi sesuai dengan key pada enkripsi, maka citra akan terlihat jelas (citra asli). Namun, jika kunci dekripsi tidak cocok dengan kunci enkripsi, citra hasil dekripsi tidak kembali ke keadaan aslinya.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8536488"/>
            <a:ext cx="18288000" cy="1750512"/>
          </a:xfrm>
          <a:prstGeom prst="rect">
            <a:avLst/>
          </a:prstGeom>
          <a:solidFill>
            <a:srgbClr val="FFD527"/>
          </a:solidFill>
        </p:spPr>
      </p:sp>
      <p:sp>
        <p:nvSpPr>
          <p:cNvPr name="Freeform 3" id="3"/>
          <p:cNvSpPr/>
          <p:nvPr/>
        </p:nvSpPr>
        <p:spPr>
          <a:xfrm flipH="false" flipV="false" rot="0">
            <a:off x="1368534" y="2401043"/>
            <a:ext cx="7322455" cy="3952551"/>
          </a:xfrm>
          <a:custGeom>
            <a:avLst/>
            <a:gdLst/>
            <a:ahLst/>
            <a:cxnLst/>
            <a:rect r="r" b="b" t="t" l="l"/>
            <a:pathLst>
              <a:path h="3952551" w="7322455">
                <a:moveTo>
                  <a:pt x="0" y="0"/>
                </a:moveTo>
                <a:lnTo>
                  <a:pt x="7322454" y="0"/>
                </a:lnTo>
                <a:lnTo>
                  <a:pt x="7322454" y="3952551"/>
                </a:lnTo>
                <a:lnTo>
                  <a:pt x="0" y="3952551"/>
                </a:lnTo>
                <a:lnTo>
                  <a:pt x="0" y="0"/>
                </a:lnTo>
                <a:close/>
              </a:path>
            </a:pathLst>
          </a:custGeom>
          <a:blipFill>
            <a:blip r:embed="rId2"/>
            <a:stretch>
              <a:fillRect l="0" t="0" r="0" b="0"/>
            </a:stretch>
          </a:blipFill>
        </p:spPr>
      </p:sp>
      <p:sp>
        <p:nvSpPr>
          <p:cNvPr name="Freeform 4" id="4"/>
          <p:cNvSpPr/>
          <p:nvPr/>
        </p:nvSpPr>
        <p:spPr>
          <a:xfrm flipH="false" flipV="false" rot="0">
            <a:off x="11431142" y="2401043"/>
            <a:ext cx="3226412" cy="3860664"/>
          </a:xfrm>
          <a:custGeom>
            <a:avLst/>
            <a:gdLst/>
            <a:ahLst/>
            <a:cxnLst/>
            <a:rect r="r" b="b" t="t" l="l"/>
            <a:pathLst>
              <a:path h="3860664" w="3226412">
                <a:moveTo>
                  <a:pt x="0" y="0"/>
                </a:moveTo>
                <a:lnTo>
                  <a:pt x="3226412" y="0"/>
                </a:lnTo>
                <a:lnTo>
                  <a:pt x="3226412" y="3860664"/>
                </a:lnTo>
                <a:lnTo>
                  <a:pt x="0" y="3860664"/>
                </a:lnTo>
                <a:lnTo>
                  <a:pt x="0" y="0"/>
                </a:lnTo>
                <a:close/>
              </a:path>
            </a:pathLst>
          </a:custGeom>
          <a:blipFill>
            <a:blip r:embed="rId3"/>
            <a:stretch>
              <a:fillRect l="0" t="0" r="0" b="0"/>
            </a:stretch>
          </a:blipFill>
        </p:spPr>
      </p:sp>
      <p:sp>
        <p:nvSpPr>
          <p:cNvPr name="TextBox 5" id="5"/>
          <p:cNvSpPr txBox="true"/>
          <p:nvPr/>
        </p:nvSpPr>
        <p:spPr>
          <a:xfrm rot="0">
            <a:off x="5029761" y="904875"/>
            <a:ext cx="16029174" cy="10382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Gambar Disimpan</a:t>
            </a:r>
          </a:p>
        </p:txBody>
      </p:sp>
      <p:sp>
        <p:nvSpPr>
          <p:cNvPr name="TextBox 6" id="6"/>
          <p:cNvSpPr txBox="true"/>
          <p:nvPr/>
        </p:nvSpPr>
        <p:spPr>
          <a:xfrm rot="0">
            <a:off x="2805698" y="6935830"/>
            <a:ext cx="12133693" cy="1289050"/>
          </a:xfrm>
          <a:prstGeom prst="rect">
            <a:avLst/>
          </a:prstGeom>
        </p:spPr>
        <p:txBody>
          <a:bodyPr anchor="t" rtlCol="false" tIns="0" lIns="0" bIns="0" rIns="0">
            <a:spAutoFit/>
          </a:bodyPr>
          <a:lstStyle/>
          <a:p>
            <a:pPr algn="just">
              <a:lnSpc>
                <a:spcPts val="3499"/>
              </a:lnSpc>
            </a:pPr>
            <a:r>
              <a:rPr lang="en-US" sz="2499">
                <a:solidFill>
                  <a:srgbClr val="000000"/>
                </a:solidFill>
                <a:latin typeface="Muli"/>
                <a:ea typeface="Muli"/>
                <a:cs typeface="Muli"/>
                <a:sym typeface="Muli"/>
              </a:rPr>
              <a:t>Semua citra, yaitu citra asli, citra terenkripsi, dan citra hasil dekripsi, kemudian ditampilkan secara visual untuk perbandingan dan juga disimpan sebagai file PNG.</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96632" y="1987508"/>
            <a:ext cx="12678545" cy="6373753"/>
            <a:chOff x="0" y="0"/>
            <a:chExt cx="16904726" cy="8498337"/>
          </a:xfrm>
        </p:grpSpPr>
        <p:sp>
          <p:nvSpPr>
            <p:cNvPr name="TextBox 3" id="3"/>
            <p:cNvSpPr txBox="true"/>
            <p:nvPr/>
          </p:nvSpPr>
          <p:spPr>
            <a:xfrm rot="0">
              <a:off x="0" y="-123825"/>
              <a:ext cx="16904726" cy="1343025"/>
            </a:xfrm>
            <a:prstGeom prst="rect">
              <a:avLst/>
            </a:prstGeom>
          </p:spPr>
          <p:txBody>
            <a:bodyPr anchor="t" rtlCol="false" tIns="0" lIns="0" bIns="0" rIns="0">
              <a:spAutoFit/>
            </a:bodyPr>
            <a:lstStyle/>
            <a:p>
              <a:pPr algn="l">
                <a:lnSpc>
                  <a:spcPts val="8400"/>
                </a:lnSpc>
              </a:pPr>
              <a:r>
                <a:rPr lang="en-US" sz="6000" b="true">
                  <a:solidFill>
                    <a:srgbClr val="000000"/>
                  </a:solidFill>
                  <a:latin typeface="Muli Heavy"/>
                  <a:ea typeface="Muli Heavy"/>
                  <a:cs typeface="Muli Heavy"/>
                  <a:sym typeface="Muli Heavy"/>
                </a:rPr>
                <a:t>Kesimpulan</a:t>
              </a:r>
            </a:p>
          </p:txBody>
        </p:sp>
        <p:sp>
          <p:nvSpPr>
            <p:cNvPr name="TextBox 4" id="4"/>
            <p:cNvSpPr txBox="true"/>
            <p:nvPr/>
          </p:nvSpPr>
          <p:spPr>
            <a:xfrm rot="0">
              <a:off x="0" y="1534504"/>
              <a:ext cx="16904726" cy="6963833"/>
            </a:xfrm>
            <a:prstGeom prst="rect">
              <a:avLst/>
            </a:prstGeom>
          </p:spPr>
          <p:txBody>
            <a:bodyPr anchor="t" rtlCol="false" tIns="0" lIns="0" bIns="0" rIns="0">
              <a:spAutoFit/>
            </a:bodyPr>
            <a:lstStyle/>
            <a:p>
              <a:pPr algn="just">
                <a:lnSpc>
                  <a:spcPts val="3499"/>
                </a:lnSpc>
              </a:pPr>
              <a:r>
                <a:rPr lang="en-US" sz="2499">
                  <a:solidFill>
                    <a:srgbClr val="000000"/>
                  </a:solidFill>
                  <a:latin typeface="Muli"/>
                  <a:ea typeface="Muli"/>
                  <a:cs typeface="Muli"/>
                  <a:sym typeface="Muli"/>
                </a:rPr>
                <a:t>Keamanan citra digital sangat penting untuk mencega</a:t>
              </a:r>
              <a:r>
                <a:rPr lang="en-US" sz="2499">
                  <a:solidFill>
                    <a:srgbClr val="000000"/>
                  </a:solidFill>
                  <a:latin typeface="Muli"/>
                  <a:ea typeface="Muli"/>
                  <a:cs typeface="Muli"/>
                  <a:sym typeface="Muli"/>
                </a:rPr>
                <a:t>h kebocoran dan manipulasi data visual, terutama pada citra lingkungan dalam ruangan yang dapat mengandung informasi sensitif. Studi kasus ini menunjukkan bahwa enkripsi citra merupakan metode yang efektif, karena seluruh isi citra dapat disamarkan sehingga tidak dapat dikenali tanpa kunci yang benar. Proses dekripsi menggunakan kunci yang sama memungkinkan citra dikembalikan ke kondisi semula, menjaga integritas dan keaslian data. Penerapan enkripsi pada dataset MIT Indoor Scene Recognition terbukti sederhana, mudah diuji melalui perbandingan citra asli, terenkripsi, dan terdekripsi, serta memberikan perlindungan yang memadai untuk tujuan studi pengantar keamanan citra digital. Dengan demikian, studi ini menekankan pentingnya menjaga kerahasiaan dan keaslian citra digital melalui metode enkripsi sebagai solusi keamanan yang praktis dan efektif.</a:t>
              </a:r>
            </a:p>
          </p:txBody>
        </p:sp>
      </p:grpSp>
      <p:sp>
        <p:nvSpPr>
          <p:cNvPr name="Freeform 5" id="5"/>
          <p:cNvSpPr/>
          <p:nvPr/>
        </p:nvSpPr>
        <p:spPr>
          <a:xfrm flipH="false" flipV="false" rot="-10800000">
            <a:off x="16213119" y="-70562"/>
            <a:ext cx="2058070" cy="2058070"/>
          </a:xfrm>
          <a:custGeom>
            <a:avLst/>
            <a:gdLst/>
            <a:ahLst/>
            <a:cxnLst/>
            <a:rect r="r" b="b" t="t" l="l"/>
            <a:pathLst>
              <a:path h="2058070" w="2058070">
                <a:moveTo>
                  <a:pt x="0" y="0"/>
                </a:moveTo>
                <a:lnTo>
                  <a:pt x="2058070" y="0"/>
                </a:lnTo>
                <a:lnTo>
                  <a:pt x="2058070" y="2058070"/>
                </a:lnTo>
                <a:lnTo>
                  <a:pt x="0" y="20580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rot="0">
            <a:off x="16213119" y="1987508"/>
            <a:ext cx="2071534" cy="2074870"/>
          </a:xfrm>
          <a:prstGeom prst="rect">
            <a:avLst/>
          </a:prstGeom>
          <a:solidFill>
            <a:srgbClr val="FFD527"/>
          </a:solidFill>
        </p:spPr>
      </p:sp>
      <p:sp>
        <p:nvSpPr>
          <p:cNvPr name="AutoShape 7" id="7"/>
          <p:cNvSpPr/>
          <p:nvPr/>
        </p:nvSpPr>
        <p:spPr>
          <a:xfrm rot="0">
            <a:off x="16213119" y="6138922"/>
            <a:ext cx="2071534" cy="2074870"/>
          </a:xfrm>
          <a:prstGeom prst="rect">
            <a:avLst/>
          </a:prstGeom>
          <a:solidFill>
            <a:srgbClr val="FFD527"/>
          </a:solidFill>
        </p:spPr>
      </p:sp>
      <p:grpSp>
        <p:nvGrpSpPr>
          <p:cNvPr name="Group 8" id="8"/>
          <p:cNvGrpSpPr/>
          <p:nvPr/>
        </p:nvGrpSpPr>
        <p:grpSpPr>
          <a:xfrm rot="-10800000">
            <a:off x="16213119" y="1987508"/>
            <a:ext cx="2074881" cy="2078206"/>
            <a:chOff x="0" y="0"/>
            <a:chExt cx="5663761" cy="5672837"/>
          </a:xfrm>
        </p:grpSpPr>
        <p:sp>
          <p:nvSpPr>
            <p:cNvPr name="Freeform 9" id="9"/>
            <p:cNvSpPr/>
            <p:nvPr/>
          </p:nvSpPr>
          <p:spPr>
            <a:xfrm flipH="false" flipV="false" rot="0">
              <a:off x="0" y="0"/>
              <a:ext cx="5663761" cy="5672837"/>
            </a:xfrm>
            <a:custGeom>
              <a:avLst/>
              <a:gdLst/>
              <a:ahLst/>
              <a:cxnLst/>
              <a:rect r="r" b="b" t="t" l="l"/>
              <a:pathLst>
                <a:path h="5672837" w="5663761">
                  <a:moveTo>
                    <a:pt x="2850943" y="0"/>
                  </a:moveTo>
                  <a:lnTo>
                    <a:pt x="2850943" y="0"/>
                  </a:lnTo>
                  <a:lnTo>
                    <a:pt x="2821940" y="0"/>
                  </a:lnTo>
                  <a:lnTo>
                    <a:pt x="0" y="0"/>
                  </a:lnTo>
                  <a:lnTo>
                    <a:pt x="2821940" y="2839615"/>
                  </a:lnTo>
                  <a:lnTo>
                    <a:pt x="0" y="5672837"/>
                  </a:lnTo>
                  <a:lnTo>
                    <a:pt x="2821940" y="5672837"/>
                  </a:lnTo>
                  <a:lnTo>
                    <a:pt x="2850943" y="5672837"/>
                  </a:lnTo>
                  <a:lnTo>
                    <a:pt x="2850943" y="5672837"/>
                  </a:lnTo>
                  <a:lnTo>
                    <a:pt x="5663761" y="2839615"/>
                  </a:lnTo>
                  <a:close/>
                </a:path>
              </a:pathLst>
            </a:custGeom>
            <a:solidFill>
              <a:srgbClr val="FFFFFF"/>
            </a:solidFill>
          </p:spPr>
        </p:sp>
      </p:grpSp>
      <p:sp>
        <p:nvSpPr>
          <p:cNvPr name="Freeform 10" id="10"/>
          <p:cNvSpPr/>
          <p:nvPr/>
        </p:nvSpPr>
        <p:spPr>
          <a:xfrm flipH="true" flipV="false" rot="-10800000">
            <a:off x="16213119" y="4065715"/>
            <a:ext cx="2071534" cy="2071534"/>
          </a:xfrm>
          <a:custGeom>
            <a:avLst/>
            <a:gdLst/>
            <a:ahLst/>
            <a:cxnLst/>
            <a:rect r="r" b="b" t="t" l="l"/>
            <a:pathLst>
              <a:path h="2071534" w="2071534">
                <a:moveTo>
                  <a:pt x="2071534" y="0"/>
                </a:moveTo>
                <a:lnTo>
                  <a:pt x="0" y="0"/>
                </a:lnTo>
                <a:lnTo>
                  <a:pt x="0" y="2071534"/>
                </a:lnTo>
                <a:lnTo>
                  <a:pt x="2071534" y="2071534"/>
                </a:lnTo>
                <a:lnTo>
                  <a:pt x="207153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7250560" y="8212119"/>
            <a:ext cx="1037440" cy="2074881"/>
          </a:xfrm>
          <a:custGeom>
            <a:avLst/>
            <a:gdLst/>
            <a:ahLst/>
            <a:cxnLst/>
            <a:rect r="r" b="b" t="t" l="l"/>
            <a:pathLst>
              <a:path h="2074881" w="1037440">
                <a:moveTo>
                  <a:pt x="0" y="0"/>
                </a:moveTo>
                <a:lnTo>
                  <a:pt x="1037440" y="0"/>
                </a:lnTo>
                <a:lnTo>
                  <a:pt x="1037440" y="2074881"/>
                </a:lnTo>
                <a:lnTo>
                  <a:pt x="0" y="20748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10800000">
            <a:off x="16213119" y="8212119"/>
            <a:ext cx="1037440" cy="2074881"/>
          </a:xfrm>
          <a:custGeom>
            <a:avLst/>
            <a:gdLst/>
            <a:ahLst/>
            <a:cxnLst/>
            <a:rect r="r" b="b" t="t" l="l"/>
            <a:pathLst>
              <a:path h="2074881" w="1037440">
                <a:moveTo>
                  <a:pt x="0" y="0"/>
                </a:moveTo>
                <a:lnTo>
                  <a:pt x="1037441" y="0"/>
                </a:lnTo>
                <a:lnTo>
                  <a:pt x="1037441" y="2074881"/>
                </a:lnTo>
                <a:lnTo>
                  <a:pt x="0" y="20748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0" y="-70562"/>
            <a:ext cx="2058070" cy="2058070"/>
          </a:xfrm>
          <a:custGeom>
            <a:avLst/>
            <a:gdLst/>
            <a:ahLst/>
            <a:cxnLst/>
            <a:rect r="r" b="b" t="t" l="l"/>
            <a:pathLst>
              <a:path h="2058070" w="2058070">
                <a:moveTo>
                  <a:pt x="0" y="0"/>
                </a:moveTo>
                <a:lnTo>
                  <a:pt x="2058070" y="0"/>
                </a:lnTo>
                <a:lnTo>
                  <a:pt x="2058070" y="2058070"/>
                </a:lnTo>
                <a:lnTo>
                  <a:pt x="0" y="20580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0">
            <a:off x="0" y="1987508"/>
            <a:ext cx="2071534" cy="2074870"/>
          </a:xfrm>
          <a:prstGeom prst="rect">
            <a:avLst/>
          </a:prstGeom>
          <a:solidFill>
            <a:srgbClr val="FFD527"/>
          </a:solidFill>
        </p:spPr>
      </p:sp>
      <p:sp>
        <p:nvSpPr>
          <p:cNvPr name="AutoShape 4" id="4"/>
          <p:cNvSpPr/>
          <p:nvPr/>
        </p:nvSpPr>
        <p:spPr>
          <a:xfrm rot="0">
            <a:off x="0" y="6138922"/>
            <a:ext cx="2071534" cy="2074870"/>
          </a:xfrm>
          <a:prstGeom prst="rect">
            <a:avLst/>
          </a:prstGeom>
          <a:solidFill>
            <a:srgbClr val="FFD527"/>
          </a:solidFill>
        </p:spPr>
      </p:sp>
      <p:grpSp>
        <p:nvGrpSpPr>
          <p:cNvPr name="Group 5" id="5"/>
          <p:cNvGrpSpPr/>
          <p:nvPr/>
        </p:nvGrpSpPr>
        <p:grpSpPr>
          <a:xfrm rot="-10800000">
            <a:off x="0" y="1987508"/>
            <a:ext cx="2074881" cy="2078206"/>
            <a:chOff x="0" y="0"/>
            <a:chExt cx="5663761" cy="5672837"/>
          </a:xfrm>
        </p:grpSpPr>
        <p:sp>
          <p:nvSpPr>
            <p:cNvPr name="Freeform 6" id="6"/>
            <p:cNvSpPr/>
            <p:nvPr/>
          </p:nvSpPr>
          <p:spPr>
            <a:xfrm flipH="false" flipV="false" rot="0">
              <a:off x="0" y="0"/>
              <a:ext cx="5663761" cy="5672837"/>
            </a:xfrm>
            <a:custGeom>
              <a:avLst/>
              <a:gdLst/>
              <a:ahLst/>
              <a:cxnLst/>
              <a:rect r="r" b="b" t="t" l="l"/>
              <a:pathLst>
                <a:path h="5672837" w="5663761">
                  <a:moveTo>
                    <a:pt x="2850943" y="0"/>
                  </a:moveTo>
                  <a:lnTo>
                    <a:pt x="2850943" y="0"/>
                  </a:lnTo>
                  <a:lnTo>
                    <a:pt x="2821940" y="0"/>
                  </a:lnTo>
                  <a:lnTo>
                    <a:pt x="0" y="0"/>
                  </a:lnTo>
                  <a:lnTo>
                    <a:pt x="2821940" y="2839615"/>
                  </a:lnTo>
                  <a:lnTo>
                    <a:pt x="0" y="5672837"/>
                  </a:lnTo>
                  <a:lnTo>
                    <a:pt x="2821940" y="5672837"/>
                  </a:lnTo>
                  <a:lnTo>
                    <a:pt x="2850943" y="5672837"/>
                  </a:lnTo>
                  <a:lnTo>
                    <a:pt x="2850943" y="5672837"/>
                  </a:lnTo>
                  <a:lnTo>
                    <a:pt x="5663761" y="2839615"/>
                  </a:lnTo>
                  <a:close/>
                </a:path>
              </a:pathLst>
            </a:custGeom>
            <a:solidFill>
              <a:srgbClr val="FFFFFF"/>
            </a:solidFill>
          </p:spPr>
        </p:sp>
      </p:grpSp>
      <p:sp>
        <p:nvSpPr>
          <p:cNvPr name="Freeform 7" id="7"/>
          <p:cNvSpPr/>
          <p:nvPr/>
        </p:nvSpPr>
        <p:spPr>
          <a:xfrm flipH="true" flipV="false" rot="-10800000">
            <a:off x="0" y="4065715"/>
            <a:ext cx="2071534" cy="2071534"/>
          </a:xfrm>
          <a:custGeom>
            <a:avLst/>
            <a:gdLst/>
            <a:ahLst/>
            <a:cxnLst/>
            <a:rect r="r" b="b" t="t" l="l"/>
            <a:pathLst>
              <a:path h="2071534" w="2071534">
                <a:moveTo>
                  <a:pt x="2071534" y="0"/>
                </a:moveTo>
                <a:lnTo>
                  <a:pt x="0" y="0"/>
                </a:lnTo>
                <a:lnTo>
                  <a:pt x="0" y="2071534"/>
                </a:lnTo>
                <a:lnTo>
                  <a:pt x="2071534" y="2071534"/>
                </a:lnTo>
                <a:lnTo>
                  <a:pt x="207153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8" id="8"/>
          <p:cNvSpPr/>
          <p:nvPr/>
        </p:nvSpPr>
        <p:spPr>
          <a:xfrm rot="0">
            <a:off x="0" y="8536488"/>
            <a:ext cx="18288000" cy="1750512"/>
          </a:xfrm>
          <a:prstGeom prst="rect">
            <a:avLst/>
          </a:prstGeom>
          <a:solidFill>
            <a:srgbClr val="FFD527"/>
          </a:solidFill>
        </p:spPr>
      </p:sp>
      <p:sp>
        <p:nvSpPr>
          <p:cNvPr name="Freeform 9" id="9"/>
          <p:cNvSpPr/>
          <p:nvPr/>
        </p:nvSpPr>
        <p:spPr>
          <a:xfrm flipH="false" flipV="false" rot="-10800000">
            <a:off x="1037440" y="8212119"/>
            <a:ext cx="1037440" cy="2074881"/>
          </a:xfrm>
          <a:custGeom>
            <a:avLst/>
            <a:gdLst/>
            <a:ahLst/>
            <a:cxnLst/>
            <a:rect r="r" b="b" t="t" l="l"/>
            <a:pathLst>
              <a:path h="2074881" w="1037440">
                <a:moveTo>
                  <a:pt x="0" y="0"/>
                </a:moveTo>
                <a:lnTo>
                  <a:pt x="1037441" y="0"/>
                </a:lnTo>
                <a:lnTo>
                  <a:pt x="1037441" y="2074881"/>
                </a:lnTo>
                <a:lnTo>
                  <a:pt x="0" y="20748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10800000">
            <a:off x="0" y="8212119"/>
            <a:ext cx="1037440" cy="2074881"/>
          </a:xfrm>
          <a:custGeom>
            <a:avLst/>
            <a:gdLst/>
            <a:ahLst/>
            <a:cxnLst/>
            <a:rect r="r" b="b" t="t" l="l"/>
            <a:pathLst>
              <a:path h="2074881" w="1037440">
                <a:moveTo>
                  <a:pt x="0" y="0"/>
                </a:moveTo>
                <a:lnTo>
                  <a:pt x="1037440" y="0"/>
                </a:lnTo>
                <a:lnTo>
                  <a:pt x="1037440" y="2074881"/>
                </a:lnTo>
                <a:lnTo>
                  <a:pt x="0" y="20748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4898161" y="3619490"/>
            <a:ext cx="8491677" cy="1524010"/>
          </a:xfrm>
          <a:prstGeom prst="rect">
            <a:avLst/>
          </a:prstGeom>
        </p:spPr>
        <p:txBody>
          <a:bodyPr anchor="t" rtlCol="false" tIns="0" lIns="0" bIns="0" rIns="0">
            <a:spAutoFit/>
          </a:bodyPr>
          <a:lstStyle/>
          <a:p>
            <a:pPr algn="l">
              <a:lnSpc>
                <a:spcPts val="12599"/>
              </a:lnSpc>
            </a:pPr>
            <a:r>
              <a:rPr lang="en-US" sz="8999" b="true">
                <a:solidFill>
                  <a:srgbClr val="000000"/>
                </a:solidFill>
                <a:latin typeface="Muli Heavy"/>
                <a:ea typeface="Muli Heavy"/>
                <a:cs typeface="Muli Heavy"/>
                <a:sym typeface="Muli Heavy"/>
              </a:rPr>
              <a:t>TERIMAKASIH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DAG8TvjC_QU</dc:identifier>
  <dcterms:modified xsi:type="dcterms:W3CDTF">2011-08-01T06:04:30Z</dcterms:modified>
  <cp:revision>1</cp:revision>
  <dc:title>KEAMANAN CITRA_KELOMPOK 3_PCD</dc:title>
</cp:coreProperties>
</file>